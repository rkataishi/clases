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47"/>
  </p:notesMasterIdLst>
  <p:sldIdLst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0" r:id="rId12"/>
    <p:sldId id="282" r:id="rId13"/>
    <p:sldId id="279" r:id="rId14"/>
    <p:sldId id="278" r:id="rId15"/>
    <p:sldId id="265" r:id="rId16"/>
    <p:sldId id="266" r:id="rId17"/>
    <p:sldId id="281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5" r:id="rId27"/>
    <p:sldId id="286" r:id="rId28"/>
    <p:sldId id="287" r:id="rId29"/>
    <p:sldId id="289" r:id="rId30"/>
    <p:sldId id="290" r:id="rId31"/>
    <p:sldId id="291" r:id="rId32"/>
    <p:sldId id="293" r:id="rId33"/>
    <p:sldId id="294" r:id="rId34"/>
    <p:sldId id="295" r:id="rId35"/>
    <p:sldId id="296" r:id="rId36"/>
    <p:sldId id="297" r:id="rId37"/>
    <p:sldId id="283" r:id="rId38"/>
    <p:sldId id="298" r:id="rId39"/>
    <p:sldId id="304" r:id="rId40"/>
    <p:sldId id="305" r:id="rId41"/>
    <p:sldId id="299" r:id="rId42"/>
    <p:sldId id="300" r:id="rId43"/>
    <p:sldId id="301" r:id="rId44"/>
    <p:sldId id="302" r:id="rId45"/>
    <p:sldId id="276" r:id="rId46"/>
  </p:sldIdLst>
  <p:sldSz cx="9144000" cy="5143500" type="screen16x9"/>
  <p:notesSz cx="6858000" cy="9144000"/>
  <p:embeddedFontLst>
    <p:embeddedFont>
      <p:font typeface="Apple Braille" pitchFamily="2" charset="0"/>
      <p:regular r:id="rId48"/>
    </p:embeddedFont>
    <p:embeddedFont>
      <p:font typeface="Montserrat" pitchFamily="2" charset="77"/>
      <p:regular r:id="rId49"/>
      <p:bold r:id="rId50"/>
      <p:italic r:id="rId51"/>
      <p:boldItalic r:id="rId52"/>
    </p:embeddedFont>
    <p:embeddedFont>
      <p:font typeface="Roboto Slab" pitchFamily="2" charset="0"/>
      <p:regular r:id="rId53"/>
      <p:bold r:id="rId54"/>
    </p:embeddedFont>
    <p:embeddedFont>
      <p:font typeface="Roboto Slab Light" pitchFamily="2" charset="0"/>
      <p:regular r:id="rId55"/>
      <p:bold r:id="rId56"/>
    </p:embeddedFont>
    <p:embeddedFont>
      <p:font typeface="Source Sans Pro" panose="020B0503030403020204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2CA3AA-0DF0-4246-921D-E5EA78670AED}">
  <a:tblStyle styleId="{A52CA3AA-0DF0-4246-921D-E5EA78670A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687"/>
  </p:normalViewPr>
  <p:slideViewPr>
    <p:cSldViewPr snapToGrid="0">
      <p:cViewPr varScale="1">
        <p:scale>
          <a:sx n="177" d="100"/>
          <a:sy n="177" d="100"/>
        </p:scale>
        <p:origin x="176" y="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7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f65893c93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f65893c93_2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3f65893c93_2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3f65893c93_2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f3dee2ab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14f3dee2ab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f65893c93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3f65893c93_2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4f3dee2ab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4f3dee2ab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f3dee2ab2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f3dee2ab2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f3dee2ab2_0_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f3dee2ab2_0_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7E3EA022-3CCE-87AB-78D0-9DB5190C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ECE0CE95-888D-242E-0A62-334D66E978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D3F451DB-FF2A-5F1A-852E-596FFF718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669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E37C74D-E2E6-C07F-EB45-DAF56E58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66843C6C-ED2C-A8CF-2A4B-69B5E5D6A2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3E5477BA-35BA-7FBC-57A0-3F3DC4C41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9739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28DA5DAA-132E-B4AB-6226-48DBF136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1D4205A6-4088-C2FC-E320-73F3976E4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CEC20524-E151-9725-1883-CCA028E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309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6C339F0-57B6-E8AD-8900-50D17F3F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65368278-3297-7092-C66F-830B79FDFA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0577904B-649B-133D-49CE-FBC664758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24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f65893c93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13f65893c93_2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f3dee2ab2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14f3dee2ab2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3f65893c93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13f65893c93_2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f3dee2ab2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14f3dee2ab2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f3dee2ab2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14f3dee2ab2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f3dee2ab2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f3dee2ab2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4f3dee2ab2_0_8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4f3dee2ab2_0_8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f3dee2ab2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14f3dee2ab2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f3dee2ab2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f3dee2ab2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f3dee2ab2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f3dee2ab2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2EA789FA-6219-03ED-F73E-10F655B3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F0345A22-F69B-5820-AA43-FECC5D37C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272143D3-2A4E-5F1D-B735-5AD6A7620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92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6AE90BDD-A7A2-2F56-F21D-D7049FC1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F6237E17-94DB-1401-4D13-CB0F8C93A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952455C5-C1A3-7E0A-BFA3-9AB18D6A0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49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CB66A56-F85D-86AA-4EAE-33885DAD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A8E638F8-9BFE-1A78-9FCA-E42E5C2DC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F0BF0E32-283D-6479-DB90-6B5B1C416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4056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055B02D-77A6-0D93-A425-DEADC7D4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EF455244-BE03-F7A5-B649-5E6CC27C0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E1354FF7-E374-2620-A0CA-30A863B54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7109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2D739DC7-9BE0-BBC1-0902-B2D50670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23D5E881-FCA3-E419-6941-76AD2BEFC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A5CCD891-81E8-1666-90AF-C76D1EB87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321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26C1284-2B22-57ED-CDBC-96741213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CE172F8E-C14D-5E9B-5B40-0D78330FC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F0B7F18E-35F0-86B9-2398-1E8062AFA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7584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EDF3BFE8-61BB-F50D-DAF5-91AD8D61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B99C7513-8CCB-73A1-0BBC-6313F33FD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B244AE36-C055-906B-89D8-2D9975685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decir: el mercado </a:t>
            </a:r>
            <a:r>
              <a:rPr lang="es-AR" b="1" dirty="0"/>
              <a:t>no solo coordina</a:t>
            </a:r>
            <a:r>
              <a:rPr lang="es-AR" dirty="0"/>
              <a:t>, </a:t>
            </a:r>
            <a:r>
              <a:rPr lang="es-AR" b="1" dirty="0"/>
              <a:t>traduce</a:t>
            </a:r>
            <a:r>
              <a:rPr lang="es-AR" dirty="0"/>
              <a:t> todo en una métrica común.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lo que lo hace una </a:t>
            </a:r>
            <a:r>
              <a:rPr lang="es-AR" b="1" dirty="0"/>
              <a:t>fuerza metafísica</a:t>
            </a:r>
            <a:r>
              <a:rPr lang="es-AR" dirty="0"/>
              <a:t>, comparable a lo que en filosofía del ser sería un “principio de identidad”: todo lo que existe económicamente existe porque es </a:t>
            </a:r>
            <a:r>
              <a:rPr lang="es-AR" i="1" dirty="0"/>
              <a:t>conmensurable</a:t>
            </a:r>
            <a:r>
              <a:rPr lang="es-A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r>
              <a:rPr lang="es-AR" b="1" dirty="0" err="1"/>
              <a:t>Debreu</a:t>
            </a:r>
            <a:r>
              <a:rPr lang="es-AR" b="1" dirty="0"/>
              <a:t> (1959)</a:t>
            </a:r>
            <a:r>
              <a:rPr lang="es-AR" dirty="0"/>
              <a:t>: el mercado “existe” si el equilibrio existe. No es mecanismo, sino “forma del orden”. → </a:t>
            </a:r>
            <a:r>
              <a:rPr lang="es-AR" b="1" dirty="0"/>
              <a:t>Confirma su carácter estructurante.</a:t>
            </a:r>
            <a:endParaRPr lang="es-AR" dirty="0"/>
          </a:p>
          <a:p>
            <a:r>
              <a:rPr lang="es-AR" b="1" dirty="0"/>
              <a:t>Arrow (1974)</a:t>
            </a:r>
            <a:r>
              <a:rPr lang="es-AR" dirty="0"/>
              <a:t>: los precios son “vehículos de información descentralizada”. → </a:t>
            </a:r>
            <a:r>
              <a:rPr lang="es-AR" b="1" dirty="0"/>
              <a:t>El mercado es lenguaje universal.</a:t>
            </a:r>
            <a:endParaRPr lang="es-AR" dirty="0"/>
          </a:p>
          <a:p>
            <a:r>
              <a:rPr lang="es-AR" b="1" dirty="0"/>
              <a:t>Walras (1874)</a:t>
            </a:r>
            <a:r>
              <a:rPr lang="es-AR" dirty="0"/>
              <a:t>: el equilibrio general es “el estado natural de la economía pura”. → </a:t>
            </a:r>
            <a:r>
              <a:rPr lang="es-AR" b="1" dirty="0"/>
              <a:t>El mercado como estado ontológico normal.</a:t>
            </a:r>
            <a:endParaRPr lang="es-AR" dirty="0"/>
          </a:p>
          <a:p>
            <a:r>
              <a:rPr lang="es-AR" b="1" dirty="0" err="1"/>
              <a:t>Mirowski</a:t>
            </a:r>
            <a:r>
              <a:rPr lang="es-AR" b="1" dirty="0"/>
              <a:t> (1989)</a:t>
            </a:r>
            <a:r>
              <a:rPr lang="es-AR" dirty="0"/>
              <a:t>: la economía neoclásica tradujo el campo gravitatorio de la física en un campo de fuerzas económicas. → </a:t>
            </a:r>
            <a:r>
              <a:rPr lang="es-AR" b="1" dirty="0"/>
              <a:t>Literalmente fuerza estructural.</a:t>
            </a:r>
            <a:endParaRPr lang="es-AR" dirty="0"/>
          </a:p>
          <a:p>
            <a:r>
              <a:rPr lang="es-AR" b="1" dirty="0" err="1"/>
              <a:t>Lawson</a:t>
            </a:r>
            <a:r>
              <a:rPr lang="es-AR" b="1" dirty="0"/>
              <a:t> (1997)</a:t>
            </a:r>
            <a:r>
              <a:rPr lang="es-AR" dirty="0"/>
              <a:t>: la economía neoclásica confunde la estructura formal con la realidad causal. → </a:t>
            </a:r>
            <a:r>
              <a:rPr lang="es-AR" b="1" dirty="0"/>
              <a:t>La “fuerza” es tautología: el orden se explica por el orden.</a:t>
            </a: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No se prueba, se presupone;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Principio de orden y equivalencia: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El mercado es </a:t>
            </a:r>
            <a:r>
              <a:rPr lang="es-AR" b="1" dirty="0"/>
              <a:t>trascendente al sistema</a:t>
            </a:r>
            <a:r>
              <a:rPr lang="es-AR" dirty="0"/>
              <a:t>, pero </a:t>
            </a:r>
            <a:r>
              <a:rPr lang="es-AR" b="1" dirty="0"/>
              <a:t>constituyente de su inteligibilidad</a:t>
            </a:r>
            <a:r>
              <a:rPr lang="es-AR" dirty="0"/>
              <a:t>.</a:t>
            </a:r>
          </a:p>
          <a:p>
            <a:r>
              <a:rPr lang="es-AR" dirty="0"/>
              <a:t>No está “dentro” de las relaciones; </a:t>
            </a:r>
            <a:r>
              <a:rPr lang="es-AR" b="1" dirty="0"/>
              <a:t>define el campo</a:t>
            </a:r>
            <a:r>
              <a:rPr lang="es-AR" dirty="0"/>
              <a:t> en el cual las relaciones pueden ser pensadas como económicas.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b="1" dirty="0"/>
              <a:t>Mercado</a:t>
            </a:r>
            <a:endParaRPr lang="es-AR" dirty="0"/>
          </a:p>
          <a:p>
            <a:r>
              <a:rPr lang="es-AR" dirty="0"/>
              <a:t>Convierte esas magnitudes </a:t>
            </a:r>
            <a:r>
              <a:rPr lang="es-AR" b="1" dirty="0"/>
              <a:t>incomunicables</a:t>
            </a:r>
            <a:r>
              <a:rPr lang="es-AR" dirty="0"/>
              <a:t> en </a:t>
            </a:r>
            <a:r>
              <a:rPr lang="es-AR" b="1" dirty="0"/>
              <a:t>precios comparables</a:t>
            </a:r>
            <a:r>
              <a:rPr lang="es-AR" dirty="0"/>
              <a:t> que permiten coordinación social.</a:t>
            </a:r>
          </a:p>
          <a:p>
            <a:r>
              <a:rPr lang="es-AR" dirty="0"/>
              <a:t>Actúa en el Exterior al agente (estructura relacional).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b="1" dirty="0"/>
              <a:t>es</a:t>
            </a:r>
            <a:r>
              <a:rPr lang="es-AR" dirty="0"/>
              <a:t> el modo en que la teoría convierte lo subjetivo en universal.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No se percibe, no se mide, no se prueba;</a:t>
            </a:r>
          </a:p>
          <a:p>
            <a:r>
              <a:rPr lang="es-AR" b="1" dirty="0"/>
              <a:t>Sin él, la teoría neoclásica no puede pensar la existencia económica</a:t>
            </a:r>
            <a:r>
              <a:rPr lang="es-A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40839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E13EC13-A37A-D5D7-C12F-C20E067D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85738F06-D7C1-D3B8-721F-F96CB37FE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BBBB7812-1465-C2C5-49A1-FE02631B0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decir: el mercado </a:t>
            </a:r>
            <a:r>
              <a:rPr lang="es-AR" b="1" dirty="0"/>
              <a:t>no solo coordina</a:t>
            </a:r>
            <a:r>
              <a:rPr lang="es-AR" dirty="0"/>
              <a:t>, </a:t>
            </a:r>
            <a:r>
              <a:rPr lang="es-AR" b="1" dirty="0"/>
              <a:t>traduce</a:t>
            </a:r>
            <a:r>
              <a:rPr lang="es-AR" dirty="0"/>
              <a:t> todo en una métrica común.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lo que lo hace una </a:t>
            </a:r>
            <a:r>
              <a:rPr lang="es-AR" b="1" dirty="0"/>
              <a:t>fuerza metafísica</a:t>
            </a:r>
            <a:r>
              <a:rPr lang="es-AR" dirty="0"/>
              <a:t>, comparable a lo que en filosofía del ser sería un “principio de identidad”: todo lo que existe económicamente existe porque es </a:t>
            </a:r>
            <a:r>
              <a:rPr lang="es-AR" i="1" dirty="0"/>
              <a:t>conmensurable</a:t>
            </a:r>
            <a:r>
              <a:rPr lang="es-A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r>
              <a:rPr lang="es-AR" b="1" dirty="0" err="1"/>
              <a:t>Debreu</a:t>
            </a:r>
            <a:r>
              <a:rPr lang="es-AR" b="1" dirty="0"/>
              <a:t> (1959)</a:t>
            </a:r>
            <a:r>
              <a:rPr lang="es-AR" dirty="0"/>
              <a:t>: el mercado “existe” si el equilibrio existe. No es mecanismo, sino “forma del orden”. → </a:t>
            </a:r>
            <a:r>
              <a:rPr lang="es-AR" b="1" dirty="0"/>
              <a:t>Confirma su carácter estructurante.</a:t>
            </a:r>
            <a:endParaRPr lang="es-AR" dirty="0"/>
          </a:p>
          <a:p>
            <a:r>
              <a:rPr lang="es-AR" b="1" dirty="0"/>
              <a:t>Arrow (1974)</a:t>
            </a:r>
            <a:r>
              <a:rPr lang="es-AR" dirty="0"/>
              <a:t>: los precios son “vehículos de información descentralizada”. → </a:t>
            </a:r>
            <a:r>
              <a:rPr lang="es-AR" b="1" dirty="0"/>
              <a:t>El mercado es lenguaje universal.</a:t>
            </a:r>
            <a:endParaRPr lang="es-AR" dirty="0"/>
          </a:p>
          <a:p>
            <a:r>
              <a:rPr lang="es-AR" b="1" dirty="0"/>
              <a:t>Walras (1874)</a:t>
            </a:r>
            <a:r>
              <a:rPr lang="es-AR" dirty="0"/>
              <a:t>: el equilibrio general es “el estado natural de la economía pura”. → </a:t>
            </a:r>
            <a:r>
              <a:rPr lang="es-AR" b="1" dirty="0"/>
              <a:t>El mercado como estado ontológico normal.</a:t>
            </a:r>
            <a:endParaRPr lang="es-AR" dirty="0"/>
          </a:p>
          <a:p>
            <a:r>
              <a:rPr lang="es-AR" b="1" dirty="0" err="1"/>
              <a:t>Mirowski</a:t>
            </a:r>
            <a:r>
              <a:rPr lang="es-AR" b="1" dirty="0"/>
              <a:t> (1989)</a:t>
            </a:r>
            <a:r>
              <a:rPr lang="es-AR" dirty="0"/>
              <a:t>: la economía neoclásica tradujo el campo gravitatorio de la física en un campo de fuerzas económicas. → </a:t>
            </a:r>
            <a:r>
              <a:rPr lang="es-AR" b="1" dirty="0"/>
              <a:t>Literalmente fuerza estructural.</a:t>
            </a:r>
            <a:endParaRPr lang="es-AR" dirty="0"/>
          </a:p>
          <a:p>
            <a:r>
              <a:rPr lang="es-AR" b="1" dirty="0" err="1"/>
              <a:t>Lawson</a:t>
            </a:r>
            <a:r>
              <a:rPr lang="es-AR" b="1" dirty="0"/>
              <a:t> (1997)</a:t>
            </a:r>
            <a:r>
              <a:rPr lang="es-AR" dirty="0"/>
              <a:t>: la economía neoclásica confunde la estructura formal con la realidad causal. → </a:t>
            </a:r>
            <a:r>
              <a:rPr lang="es-AR" b="1" dirty="0"/>
              <a:t>La “fuerza” es tautología: el orden se explica por el orden.</a:t>
            </a: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No se prueba, se presupone;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Principio de orden y equivalencia: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El mercado es </a:t>
            </a:r>
            <a:r>
              <a:rPr lang="es-AR" b="1" dirty="0"/>
              <a:t>trascendente al sistema</a:t>
            </a:r>
            <a:r>
              <a:rPr lang="es-AR" dirty="0"/>
              <a:t>, pero </a:t>
            </a:r>
            <a:r>
              <a:rPr lang="es-AR" b="1" dirty="0"/>
              <a:t>constituyente de su inteligibilidad</a:t>
            </a:r>
            <a:r>
              <a:rPr lang="es-AR" dirty="0"/>
              <a:t>.</a:t>
            </a:r>
          </a:p>
          <a:p>
            <a:r>
              <a:rPr lang="es-AR" dirty="0"/>
              <a:t>No está “dentro” de las relaciones; </a:t>
            </a:r>
            <a:r>
              <a:rPr lang="es-AR" b="1" dirty="0"/>
              <a:t>define el campo</a:t>
            </a:r>
            <a:r>
              <a:rPr lang="es-AR" dirty="0"/>
              <a:t> en el cual las relaciones pueden ser pensadas como económicas.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b="1" dirty="0"/>
              <a:t>Mercado</a:t>
            </a:r>
            <a:endParaRPr lang="es-AR" dirty="0"/>
          </a:p>
          <a:p>
            <a:r>
              <a:rPr lang="es-AR" dirty="0"/>
              <a:t>Convierte esas magnitudes </a:t>
            </a:r>
            <a:r>
              <a:rPr lang="es-AR" b="1" dirty="0"/>
              <a:t>incomunicables</a:t>
            </a:r>
            <a:r>
              <a:rPr lang="es-AR" dirty="0"/>
              <a:t> en </a:t>
            </a:r>
            <a:r>
              <a:rPr lang="es-AR" b="1" dirty="0"/>
              <a:t>precios comparables</a:t>
            </a:r>
            <a:r>
              <a:rPr lang="es-AR" dirty="0"/>
              <a:t> que permiten coordinación social.</a:t>
            </a:r>
          </a:p>
          <a:p>
            <a:r>
              <a:rPr lang="es-AR" dirty="0"/>
              <a:t>Actúa en el Exterior al agente (estructura relacional).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b="1" dirty="0"/>
              <a:t>es</a:t>
            </a:r>
            <a:r>
              <a:rPr lang="es-AR" dirty="0"/>
              <a:t> el modo en que la teoría convierte lo subjetivo en universal.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No se percibe, no se mide, no se prueba;</a:t>
            </a:r>
          </a:p>
          <a:p>
            <a:r>
              <a:rPr lang="es-AR" b="1" dirty="0"/>
              <a:t>Sin él, la teoría neoclásica no puede pensar la existencia económica</a:t>
            </a:r>
            <a:r>
              <a:rPr lang="es-AR" dirty="0"/>
              <a:t>.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i="1" dirty="0" err="1"/>
              <a:t>Theory</a:t>
            </a:r>
            <a:r>
              <a:rPr lang="es-AR" i="1" dirty="0"/>
              <a:t> </a:t>
            </a:r>
            <a:r>
              <a:rPr lang="es-AR" i="1" dirty="0" err="1"/>
              <a:t>of</a:t>
            </a:r>
            <a:r>
              <a:rPr lang="es-AR" i="1" dirty="0"/>
              <a:t> </a:t>
            </a:r>
            <a:r>
              <a:rPr lang="es-AR" i="1" dirty="0" err="1"/>
              <a:t>Value</a:t>
            </a:r>
            <a:r>
              <a:rPr lang="es-AR" dirty="0"/>
              <a:t> (1959), </a:t>
            </a:r>
            <a:r>
              <a:rPr lang="es-AR" dirty="0" err="1"/>
              <a:t>Debreu</a:t>
            </a:r>
            <a:r>
              <a:rPr lang="es-AR" dirty="0"/>
              <a:t> no presenta el equilibrio como un estado al que se llega, sino como la </a:t>
            </a:r>
            <a:r>
              <a:rPr lang="es-AR" b="1" dirty="0"/>
              <a:t>propiedad que define al sistema económico</a:t>
            </a:r>
            <a:r>
              <a:rPr lang="es-AR" dirty="0"/>
              <a:t>:</a:t>
            </a:r>
          </a:p>
          <a:p>
            <a:r>
              <a:rPr lang="es-AR" dirty="0"/>
              <a:t>un conjunto de precios y cantidades (p^, x^) tal que todas las condiciones de optimalidad individual y las identidades de mercado se cumplen simultáneamente.</a:t>
            </a:r>
          </a:p>
          <a:p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4720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CA84675B-3E8F-80D2-0D1D-21A80CF0B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84208E8D-E8F0-4926-85A7-243A670D8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77A32603-EBD9-AF06-3C28-DD2342BEBF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decir: el mercado </a:t>
            </a:r>
            <a:r>
              <a:rPr lang="es-AR" b="1" dirty="0"/>
              <a:t>no solo coordina</a:t>
            </a:r>
            <a:r>
              <a:rPr lang="es-AR" dirty="0"/>
              <a:t>, </a:t>
            </a:r>
            <a:r>
              <a:rPr lang="es-AR" b="1" dirty="0"/>
              <a:t>traduce</a:t>
            </a:r>
            <a:r>
              <a:rPr lang="es-AR" dirty="0"/>
              <a:t> todo en una métrica común.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lo que lo hace una </a:t>
            </a:r>
            <a:r>
              <a:rPr lang="es-AR" b="1" dirty="0"/>
              <a:t>fuerza metafísica</a:t>
            </a:r>
            <a:r>
              <a:rPr lang="es-AR" dirty="0"/>
              <a:t>, comparable a lo que en filosofía del ser sería un “principio de identidad”: todo lo que existe económicamente existe porque es </a:t>
            </a:r>
            <a:r>
              <a:rPr lang="es-AR" i="1" dirty="0"/>
              <a:t>conmensurable</a:t>
            </a:r>
            <a:r>
              <a:rPr lang="es-A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r>
              <a:rPr lang="es-AR" b="1" dirty="0" err="1"/>
              <a:t>Debreu</a:t>
            </a:r>
            <a:r>
              <a:rPr lang="es-AR" b="1" dirty="0"/>
              <a:t> (1959)</a:t>
            </a:r>
            <a:r>
              <a:rPr lang="es-AR" dirty="0"/>
              <a:t>: el mercado “existe” si el equilibrio existe. No es mecanismo, sino “forma del orden”. → </a:t>
            </a:r>
            <a:r>
              <a:rPr lang="es-AR" b="1" dirty="0"/>
              <a:t>Confirma su carácter estructurante.</a:t>
            </a:r>
            <a:endParaRPr lang="es-AR" dirty="0"/>
          </a:p>
          <a:p>
            <a:r>
              <a:rPr lang="es-AR" b="1" dirty="0"/>
              <a:t>Arrow (1974)</a:t>
            </a:r>
            <a:r>
              <a:rPr lang="es-AR" dirty="0"/>
              <a:t>: los precios son “vehículos de información descentralizada”. → </a:t>
            </a:r>
            <a:r>
              <a:rPr lang="es-AR" b="1" dirty="0"/>
              <a:t>El mercado es lenguaje universal.</a:t>
            </a:r>
            <a:endParaRPr lang="es-AR" dirty="0"/>
          </a:p>
          <a:p>
            <a:r>
              <a:rPr lang="es-AR" b="1" dirty="0"/>
              <a:t>Walras (1874)</a:t>
            </a:r>
            <a:r>
              <a:rPr lang="es-AR" dirty="0"/>
              <a:t>: el equilibrio general es “el estado natural de la economía pura”. → </a:t>
            </a:r>
            <a:r>
              <a:rPr lang="es-AR" b="1" dirty="0"/>
              <a:t>El mercado como estado ontológico normal.</a:t>
            </a:r>
            <a:endParaRPr lang="es-AR" dirty="0"/>
          </a:p>
          <a:p>
            <a:r>
              <a:rPr lang="es-AR" b="1" dirty="0" err="1"/>
              <a:t>Mirowski</a:t>
            </a:r>
            <a:r>
              <a:rPr lang="es-AR" b="1" dirty="0"/>
              <a:t> (1989)</a:t>
            </a:r>
            <a:r>
              <a:rPr lang="es-AR" dirty="0"/>
              <a:t>: la economía neoclásica tradujo el campo gravitatorio de la física en un campo de fuerzas económicas. → </a:t>
            </a:r>
            <a:r>
              <a:rPr lang="es-AR" b="1" dirty="0"/>
              <a:t>Literalmente fuerza estructural.</a:t>
            </a:r>
            <a:endParaRPr lang="es-AR" dirty="0"/>
          </a:p>
          <a:p>
            <a:r>
              <a:rPr lang="es-AR" b="1" dirty="0" err="1"/>
              <a:t>Lawson</a:t>
            </a:r>
            <a:r>
              <a:rPr lang="es-AR" b="1" dirty="0"/>
              <a:t> (1997)</a:t>
            </a:r>
            <a:r>
              <a:rPr lang="es-AR" dirty="0"/>
              <a:t>: la economía neoclásica confunde la estructura formal con la realidad causal. → </a:t>
            </a:r>
            <a:r>
              <a:rPr lang="es-AR" b="1" dirty="0"/>
              <a:t>La “fuerza” es tautología: el orden se explica por el orden.</a:t>
            </a: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No se prueba, se presupone;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Principio de orden y equivalencia: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El mercado es </a:t>
            </a:r>
            <a:r>
              <a:rPr lang="es-AR" b="1" dirty="0"/>
              <a:t>trascendente al sistema</a:t>
            </a:r>
            <a:r>
              <a:rPr lang="es-AR" dirty="0"/>
              <a:t>, pero </a:t>
            </a:r>
            <a:r>
              <a:rPr lang="es-AR" b="1" dirty="0"/>
              <a:t>constituyente de su inteligibilidad</a:t>
            </a:r>
            <a:r>
              <a:rPr lang="es-AR" dirty="0"/>
              <a:t>.</a:t>
            </a:r>
          </a:p>
          <a:p>
            <a:r>
              <a:rPr lang="es-AR" dirty="0"/>
              <a:t>No está “dentro” de las relaciones; </a:t>
            </a:r>
            <a:r>
              <a:rPr lang="es-AR" b="1" dirty="0"/>
              <a:t>define el campo</a:t>
            </a:r>
            <a:r>
              <a:rPr lang="es-AR" dirty="0"/>
              <a:t> en el cual las relaciones pueden ser pensadas como económicas.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b="1" dirty="0"/>
              <a:t>Mercado</a:t>
            </a:r>
            <a:endParaRPr lang="es-AR" dirty="0"/>
          </a:p>
          <a:p>
            <a:r>
              <a:rPr lang="es-AR" dirty="0"/>
              <a:t>Convierte esas magnitudes </a:t>
            </a:r>
            <a:r>
              <a:rPr lang="es-AR" b="1" dirty="0"/>
              <a:t>incomunicables</a:t>
            </a:r>
            <a:r>
              <a:rPr lang="es-AR" dirty="0"/>
              <a:t> en </a:t>
            </a:r>
            <a:r>
              <a:rPr lang="es-AR" b="1" dirty="0"/>
              <a:t>precios comparables</a:t>
            </a:r>
            <a:r>
              <a:rPr lang="es-AR" dirty="0"/>
              <a:t> que permiten coordinación social.</a:t>
            </a:r>
          </a:p>
          <a:p>
            <a:r>
              <a:rPr lang="es-AR" dirty="0"/>
              <a:t>Actúa en el Exterior al agente (estructura relacional).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b="1" dirty="0"/>
              <a:t>es</a:t>
            </a:r>
            <a:r>
              <a:rPr lang="es-AR" dirty="0"/>
              <a:t> el modo en que la teoría convierte lo subjetivo en universal.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No se percibe, no se mide, no se prueba;</a:t>
            </a:r>
          </a:p>
          <a:p>
            <a:r>
              <a:rPr lang="es-AR" b="1" dirty="0"/>
              <a:t>Sin él, la teoría neoclásica no puede pensar la existencia económica</a:t>
            </a:r>
            <a:r>
              <a:rPr lang="es-AR" dirty="0"/>
              <a:t>.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i="1" dirty="0" err="1"/>
              <a:t>Theory</a:t>
            </a:r>
            <a:r>
              <a:rPr lang="es-AR" i="1" dirty="0"/>
              <a:t> </a:t>
            </a:r>
            <a:r>
              <a:rPr lang="es-AR" i="1" dirty="0" err="1"/>
              <a:t>of</a:t>
            </a:r>
            <a:r>
              <a:rPr lang="es-AR" i="1" dirty="0"/>
              <a:t> </a:t>
            </a:r>
            <a:r>
              <a:rPr lang="es-AR" i="1" dirty="0" err="1"/>
              <a:t>Value</a:t>
            </a:r>
            <a:r>
              <a:rPr lang="es-AR" dirty="0"/>
              <a:t> (1959), </a:t>
            </a:r>
            <a:r>
              <a:rPr lang="es-AR" dirty="0" err="1"/>
              <a:t>Debreu</a:t>
            </a:r>
            <a:r>
              <a:rPr lang="es-AR" dirty="0"/>
              <a:t> no presenta el equilibrio como un estado al que se llega, sino como la </a:t>
            </a:r>
            <a:r>
              <a:rPr lang="es-AR" b="1" dirty="0"/>
              <a:t>propiedad que define al sistema económico</a:t>
            </a:r>
            <a:r>
              <a:rPr lang="es-AR" dirty="0"/>
              <a:t>:</a:t>
            </a:r>
          </a:p>
          <a:p>
            <a:r>
              <a:rPr lang="es-AR" dirty="0"/>
              <a:t>un conjunto de precios y cantidades (p^, x^) tal que todas las condiciones de optimalidad individual y las identidades de mercado se cumplen simultáneamente.</a:t>
            </a:r>
          </a:p>
          <a:p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78174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22502FEE-9728-2EFF-33D6-27CE387B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8F784CD4-DC14-ED64-72FF-2FA2AA32E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C6FC46E2-0459-DA0E-B4B2-FBA020F59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decir: el mercado </a:t>
            </a:r>
            <a:r>
              <a:rPr lang="es-AR" b="1" dirty="0"/>
              <a:t>no solo coordina</a:t>
            </a:r>
            <a:r>
              <a:rPr lang="es-AR" dirty="0"/>
              <a:t>, </a:t>
            </a:r>
            <a:r>
              <a:rPr lang="es-AR" b="1" dirty="0"/>
              <a:t>traduce</a:t>
            </a:r>
            <a:r>
              <a:rPr lang="es-AR" dirty="0"/>
              <a:t> todo en una métrica común.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lo que lo hace una </a:t>
            </a:r>
            <a:r>
              <a:rPr lang="es-AR" b="1" dirty="0"/>
              <a:t>fuerza metafísica</a:t>
            </a:r>
            <a:r>
              <a:rPr lang="es-AR" dirty="0"/>
              <a:t>, comparable a lo que en filosofía del ser sería un “principio de identidad”: todo lo que existe económicamente existe porque es </a:t>
            </a:r>
            <a:r>
              <a:rPr lang="es-AR" i="1" dirty="0"/>
              <a:t>conmensurable</a:t>
            </a:r>
            <a:r>
              <a:rPr lang="es-A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r>
              <a:rPr lang="es-AR" b="1" dirty="0" err="1"/>
              <a:t>Debreu</a:t>
            </a:r>
            <a:r>
              <a:rPr lang="es-AR" b="1" dirty="0"/>
              <a:t> (1959)</a:t>
            </a:r>
            <a:r>
              <a:rPr lang="es-AR" dirty="0"/>
              <a:t>: el mercado “existe” si el equilibrio existe. No es mecanismo, sino “forma del orden”. → </a:t>
            </a:r>
            <a:r>
              <a:rPr lang="es-AR" b="1" dirty="0"/>
              <a:t>Confirma su carácter estructurante.</a:t>
            </a:r>
            <a:endParaRPr lang="es-AR" dirty="0"/>
          </a:p>
          <a:p>
            <a:r>
              <a:rPr lang="es-AR" b="1" dirty="0"/>
              <a:t>Arrow (1974)</a:t>
            </a:r>
            <a:r>
              <a:rPr lang="es-AR" dirty="0"/>
              <a:t>: los precios son “vehículos de información descentralizada”. → </a:t>
            </a:r>
            <a:r>
              <a:rPr lang="es-AR" b="1" dirty="0"/>
              <a:t>El mercado es lenguaje universal.</a:t>
            </a:r>
            <a:endParaRPr lang="es-AR" dirty="0"/>
          </a:p>
          <a:p>
            <a:r>
              <a:rPr lang="es-AR" b="1" dirty="0"/>
              <a:t>Walras (1874)</a:t>
            </a:r>
            <a:r>
              <a:rPr lang="es-AR" dirty="0"/>
              <a:t>: el equilibrio general es “el estado natural de la economía pura”. → </a:t>
            </a:r>
            <a:r>
              <a:rPr lang="es-AR" b="1" dirty="0"/>
              <a:t>El mercado como estado ontológico normal.</a:t>
            </a:r>
            <a:endParaRPr lang="es-AR" dirty="0"/>
          </a:p>
          <a:p>
            <a:r>
              <a:rPr lang="es-AR" b="1" dirty="0" err="1"/>
              <a:t>Mirowski</a:t>
            </a:r>
            <a:r>
              <a:rPr lang="es-AR" b="1" dirty="0"/>
              <a:t> (1989)</a:t>
            </a:r>
            <a:r>
              <a:rPr lang="es-AR" dirty="0"/>
              <a:t>: la economía neoclásica tradujo el campo gravitatorio de la física en un campo de fuerzas económicas. → </a:t>
            </a:r>
            <a:r>
              <a:rPr lang="es-AR" b="1" dirty="0"/>
              <a:t>Literalmente fuerza estructural.</a:t>
            </a:r>
            <a:endParaRPr lang="es-AR" dirty="0"/>
          </a:p>
          <a:p>
            <a:r>
              <a:rPr lang="es-AR" b="1" dirty="0" err="1"/>
              <a:t>Lawson</a:t>
            </a:r>
            <a:r>
              <a:rPr lang="es-AR" b="1" dirty="0"/>
              <a:t> (1997)</a:t>
            </a:r>
            <a:r>
              <a:rPr lang="es-AR" dirty="0"/>
              <a:t>: la economía neoclásica confunde la estructura formal con la realidad causal. → </a:t>
            </a:r>
            <a:r>
              <a:rPr lang="es-AR" b="1" dirty="0"/>
              <a:t>La “fuerza” es tautología: el orden se explica por el orden.</a:t>
            </a: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No se prueba, se presupone;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Principio de orden y equivalencia: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El mercado es </a:t>
            </a:r>
            <a:r>
              <a:rPr lang="es-AR" b="1" dirty="0"/>
              <a:t>trascendente al sistema</a:t>
            </a:r>
            <a:r>
              <a:rPr lang="es-AR" dirty="0"/>
              <a:t>, pero </a:t>
            </a:r>
            <a:r>
              <a:rPr lang="es-AR" b="1" dirty="0"/>
              <a:t>constituyente de su inteligibilidad</a:t>
            </a:r>
            <a:r>
              <a:rPr lang="es-AR" dirty="0"/>
              <a:t>.</a:t>
            </a:r>
          </a:p>
          <a:p>
            <a:r>
              <a:rPr lang="es-AR" dirty="0"/>
              <a:t>No está “dentro” de las relaciones; </a:t>
            </a:r>
            <a:r>
              <a:rPr lang="es-AR" b="1" dirty="0"/>
              <a:t>define el campo</a:t>
            </a:r>
            <a:r>
              <a:rPr lang="es-AR" dirty="0"/>
              <a:t> en el cual las relaciones pueden ser pensadas como económicas.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b="1" dirty="0"/>
              <a:t>Mercado</a:t>
            </a:r>
            <a:endParaRPr lang="es-AR" dirty="0"/>
          </a:p>
          <a:p>
            <a:r>
              <a:rPr lang="es-AR" dirty="0"/>
              <a:t>Convierte esas magnitudes </a:t>
            </a:r>
            <a:r>
              <a:rPr lang="es-AR" b="1" dirty="0"/>
              <a:t>incomunicables</a:t>
            </a:r>
            <a:r>
              <a:rPr lang="es-AR" dirty="0"/>
              <a:t> en </a:t>
            </a:r>
            <a:r>
              <a:rPr lang="es-AR" b="1" dirty="0"/>
              <a:t>precios comparables</a:t>
            </a:r>
            <a:r>
              <a:rPr lang="es-AR" dirty="0"/>
              <a:t> que permiten coordinación social.</a:t>
            </a:r>
          </a:p>
          <a:p>
            <a:r>
              <a:rPr lang="es-AR" dirty="0"/>
              <a:t>Actúa en el Exterior al agente (estructura relacional).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b="1" dirty="0"/>
              <a:t>es</a:t>
            </a:r>
            <a:r>
              <a:rPr lang="es-AR" dirty="0"/>
              <a:t> el modo en que la teoría convierte lo subjetivo en universal.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No se percibe, no se mide, no se prueba;</a:t>
            </a:r>
          </a:p>
          <a:p>
            <a:r>
              <a:rPr lang="es-AR" b="1" dirty="0"/>
              <a:t>Sin él, la teoría neoclásica no puede pensar la existencia económica</a:t>
            </a:r>
            <a:r>
              <a:rPr lang="es-AR" dirty="0"/>
              <a:t>.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i="1" dirty="0" err="1"/>
              <a:t>Theory</a:t>
            </a:r>
            <a:r>
              <a:rPr lang="es-AR" i="1" dirty="0"/>
              <a:t> </a:t>
            </a:r>
            <a:r>
              <a:rPr lang="es-AR" i="1" dirty="0" err="1"/>
              <a:t>of</a:t>
            </a:r>
            <a:r>
              <a:rPr lang="es-AR" i="1" dirty="0"/>
              <a:t> </a:t>
            </a:r>
            <a:r>
              <a:rPr lang="es-AR" i="1" dirty="0" err="1"/>
              <a:t>Value</a:t>
            </a:r>
            <a:r>
              <a:rPr lang="es-AR" dirty="0"/>
              <a:t> (1959), </a:t>
            </a:r>
            <a:r>
              <a:rPr lang="es-AR" dirty="0" err="1"/>
              <a:t>Debreu</a:t>
            </a:r>
            <a:r>
              <a:rPr lang="es-AR" dirty="0"/>
              <a:t> no presenta el equilibrio como un estado al que se llega, sino como la </a:t>
            </a:r>
            <a:r>
              <a:rPr lang="es-AR" b="1" dirty="0"/>
              <a:t>propiedad que define al sistema económico</a:t>
            </a:r>
            <a:r>
              <a:rPr lang="es-AR" dirty="0"/>
              <a:t>:</a:t>
            </a:r>
          </a:p>
          <a:p>
            <a:r>
              <a:rPr lang="es-AR" dirty="0"/>
              <a:t>un conjunto de precios y cantidades (p^, x^) tal que todas las condiciones de optimalidad individual y las identidades de mercado se cumplen simultáneamente.</a:t>
            </a:r>
          </a:p>
          <a:p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93663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F6D97FCA-9CFD-3B5E-8F85-4E35D1F7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EB7660A4-B67D-E79C-3799-EE8C72B86C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B329015C-0AC2-27E8-F8DD-842BCEF4D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decir: el mercado </a:t>
            </a:r>
            <a:r>
              <a:rPr lang="es-AR" b="1" dirty="0"/>
              <a:t>no solo coordina</a:t>
            </a:r>
            <a:r>
              <a:rPr lang="es-AR" dirty="0"/>
              <a:t>, </a:t>
            </a:r>
            <a:r>
              <a:rPr lang="es-AR" b="1" dirty="0"/>
              <a:t>traduce</a:t>
            </a:r>
            <a:r>
              <a:rPr lang="es-AR" dirty="0"/>
              <a:t> todo en una métrica común.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es lo que lo hace una </a:t>
            </a:r>
            <a:r>
              <a:rPr lang="es-AR" b="1" dirty="0"/>
              <a:t>fuerza metafísica</a:t>
            </a:r>
            <a:r>
              <a:rPr lang="es-AR" dirty="0"/>
              <a:t>, comparable a lo que en filosofía del ser sería un “principio de identidad”: todo lo que existe económicamente existe porque es </a:t>
            </a:r>
            <a:r>
              <a:rPr lang="es-AR" i="1" dirty="0"/>
              <a:t>conmensurable</a:t>
            </a:r>
            <a:r>
              <a:rPr lang="es-A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AR" dirty="0"/>
          </a:p>
          <a:p>
            <a:r>
              <a:rPr lang="es-AR" b="1" dirty="0" err="1"/>
              <a:t>Debreu</a:t>
            </a:r>
            <a:r>
              <a:rPr lang="es-AR" b="1" dirty="0"/>
              <a:t> (1959)</a:t>
            </a:r>
            <a:r>
              <a:rPr lang="es-AR" dirty="0"/>
              <a:t>: el mercado “existe” si el equilibrio existe. No es mecanismo, sino “forma del orden”. → </a:t>
            </a:r>
            <a:r>
              <a:rPr lang="es-AR" b="1" dirty="0"/>
              <a:t>Confirma su carácter estructurante.</a:t>
            </a:r>
            <a:endParaRPr lang="es-AR" dirty="0"/>
          </a:p>
          <a:p>
            <a:r>
              <a:rPr lang="es-AR" b="1" dirty="0"/>
              <a:t>Arrow (1974)</a:t>
            </a:r>
            <a:r>
              <a:rPr lang="es-AR" dirty="0"/>
              <a:t>: los precios son “vehículos de información descentralizada”. → </a:t>
            </a:r>
            <a:r>
              <a:rPr lang="es-AR" b="1" dirty="0"/>
              <a:t>El mercado es lenguaje universal.</a:t>
            </a:r>
            <a:endParaRPr lang="es-AR" dirty="0"/>
          </a:p>
          <a:p>
            <a:r>
              <a:rPr lang="es-AR" b="1" dirty="0"/>
              <a:t>Walras (1874)</a:t>
            </a:r>
            <a:r>
              <a:rPr lang="es-AR" dirty="0"/>
              <a:t>: el equilibrio general es “el estado natural de la economía pura”. → </a:t>
            </a:r>
            <a:r>
              <a:rPr lang="es-AR" b="1" dirty="0"/>
              <a:t>El mercado como estado ontológico normal.</a:t>
            </a:r>
            <a:endParaRPr lang="es-AR" dirty="0"/>
          </a:p>
          <a:p>
            <a:r>
              <a:rPr lang="es-AR" b="1" dirty="0" err="1"/>
              <a:t>Mirowski</a:t>
            </a:r>
            <a:r>
              <a:rPr lang="es-AR" b="1" dirty="0"/>
              <a:t> (1989)</a:t>
            </a:r>
            <a:r>
              <a:rPr lang="es-AR" dirty="0"/>
              <a:t>: la economía neoclásica tradujo el campo gravitatorio de la física en un campo de fuerzas económicas. → </a:t>
            </a:r>
            <a:r>
              <a:rPr lang="es-AR" b="1" dirty="0"/>
              <a:t>Literalmente fuerza estructural.</a:t>
            </a:r>
            <a:endParaRPr lang="es-AR" dirty="0"/>
          </a:p>
          <a:p>
            <a:r>
              <a:rPr lang="es-AR" b="1" dirty="0" err="1"/>
              <a:t>Lawson</a:t>
            </a:r>
            <a:r>
              <a:rPr lang="es-AR" b="1" dirty="0"/>
              <a:t> (1997)</a:t>
            </a:r>
            <a:r>
              <a:rPr lang="es-AR" dirty="0"/>
              <a:t>: la economía neoclásica confunde la estructura formal con la realidad causal. → </a:t>
            </a:r>
            <a:r>
              <a:rPr lang="es-AR" b="1" dirty="0"/>
              <a:t>La “fuerza” es tautología: el orden se explica por el orden.</a:t>
            </a: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No se prueba, se presupone;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dirty="0"/>
              <a:t>Principio de orden y equivalencia: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El mercado es </a:t>
            </a:r>
            <a:r>
              <a:rPr lang="es-AR" b="1" dirty="0"/>
              <a:t>trascendente al sistema</a:t>
            </a:r>
            <a:r>
              <a:rPr lang="es-AR" dirty="0"/>
              <a:t>, pero </a:t>
            </a:r>
            <a:r>
              <a:rPr lang="es-AR" b="1" dirty="0"/>
              <a:t>constituyente de su inteligibilidad</a:t>
            </a:r>
            <a:r>
              <a:rPr lang="es-AR" dirty="0"/>
              <a:t>.</a:t>
            </a:r>
          </a:p>
          <a:p>
            <a:r>
              <a:rPr lang="es-AR" dirty="0"/>
              <a:t>No está “dentro” de las relaciones; </a:t>
            </a:r>
            <a:r>
              <a:rPr lang="es-AR" b="1" dirty="0"/>
              <a:t>define el campo</a:t>
            </a:r>
            <a:r>
              <a:rPr lang="es-AR" dirty="0"/>
              <a:t> en el cual las relaciones pueden ser pensadas como económicas.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b="1" dirty="0"/>
              <a:t>Mercado</a:t>
            </a:r>
            <a:endParaRPr lang="es-AR" dirty="0"/>
          </a:p>
          <a:p>
            <a:r>
              <a:rPr lang="es-AR" dirty="0"/>
              <a:t>Convierte esas magnitudes </a:t>
            </a:r>
            <a:r>
              <a:rPr lang="es-AR" b="1" dirty="0"/>
              <a:t>incomunicables</a:t>
            </a:r>
            <a:r>
              <a:rPr lang="es-AR" dirty="0"/>
              <a:t> en </a:t>
            </a:r>
            <a:r>
              <a:rPr lang="es-AR" b="1" dirty="0"/>
              <a:t>precios comparables</a:t>
            </a:r>
            <a:r>
              <a:rPr lang="es-AR" dirty="0"/>
              <a:t> que permiten coordinación social.</a:t>
            </a:r>
          </a:p>
          <a:p>
            <a:r>
              <a:rPr lang="es-AR" dirty="0"/>
              <a:t>Actúa en el Exterior al agente (estructura relacional).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AR" b="1" dirty="0"/>
              <a:t>es</a:t>
            </a:r>
            <a:r>
              <a:rPr lang="es-AR" dirty="0"/>
              <a:t> el modo en que la teoría convierte lo subjetivo en universal.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r>
              <a:rPr lang="es-AR" dirty="0"/>
              <a:t>No se percibe, no se mide, no se prueba;</a:t>
            </a:r>
          </a:p>
          <a:p>
            <a:r>
              <a:rPr lang="es-AR" b="1" dirty="0"/>
              <a:t>Sin él, la teoría neoclásica no puede pensar la existencia económica</a:t>
            </a:r>
            <a:r>
              <a:rPr lang="es-AR" dirty="0"/>
              <a:t>.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i="1" dirty="0" err="1"/>
              <a:t>Theory</a:t>
            </a:r>
            <a:r>
              <a:rPr lang="es-AR" i="1" dirty="0"/>
              <a:t> </a:t>
            </a:r>
            <a:r>
              <a:rPr lang="es-AR" i="1" dirty="0" err="1"/>
              <a:t>of</a:t>
            </a:r>
            <a:r>
              <a:rPr lang="es-AR" i="1" dirty="0"/>
              <a:t> </a:t>
            </a:r>
            <a:r>
              <a:rPr lang="es-AR" i="1" dirty="0" err="1"/>
              <a:t>Value</a:t>
            </a:r>
            <a:r>
              <a:rPr lang="es-AR" dirty="0"/>
              <a:t> (1959), </a:t>
            </a:r>
            <a:r>
              <a:rPr lang="es-AR" dirty="0" err="1"/>
              <a:t>Debreu</a:t>
            </a:r>
            <a:r>
              <a:rPr lang="es-AR" dirty="0"/>
              <a:t> no presenta el equilibrio como un estado al que se llega, sino como la </a:t>
            </a:r>
            <a:r>
              <a:rPr lang="es-AR" b="1" dirty="0"/>
              <a:t>propiedad que define al sistema económico</a:t>
            </a:r>
            <a:r>
              <a:rPr lang="es-AR" dirty="0"/>
              <a:t>:</a:t>
            </a:r>
          </a:p>
          <a:p>
            <a:r>
              <a:rPr lang="es-AR" dirty="0"/>
              <a:t>un conjunto de precios y cantidades (p^, x^) tal que todas las condiciones de optimalidad individual y las identidades de mercado se cumplen simultáneamente.</a:t>
            </a:r>
          </a:p>
          <a:p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s-A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42775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8DE491D2-1851-B8AA-7A7E-53C6CAEDC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f3dee2ab2_0_298:notes">
            <a:extLst>
              <a:ext uri="{FF2B5EF4-FFF2-40B4-BE49-F238E27FC236}">
                <a16:creationId xmlns:a16="http://schemas.microsoft.com/office/drawing/2014/main" id="{11A677B9-2525-7178-E168-6CCA45F295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f3dee2ab2_0_298:notes">
            <a:extLst>
              <a:ext uri="{FF2B5EF4-FFF2-40B4-BE49-F238E27FC236}">
                <a16:creationId xmlns:a16="http://schemas.microsoft.com/office/drawing/2014/main" id="{4E9A5488-1CD2-4D9E-05F0-F42D89DFF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2392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7677A9F-0F8B-A1BB-0BB2-D1126D7A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5B5B8F43-12D6-5F0D-1D51-8141D77F0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490098CF-8818-A422-0CC2-DE314BC41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7916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1B50BB2-8DD9-D534-0A11-BEB8EAED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459BC17C-CF0D-29A6-F5C4-FC9A25578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5F174DAA-F6A4-1970-684A-4585A6CD8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2567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79D539D-9D57-05DD-A9A0-F4DFB166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f3dee2ab2_0_799:notes">
            <a:extLst>
              <a:ext uri="{FF2B5EF4-FFF2-40B4-BE49-F238E27FC236}">
                <a16:creationId xmlns:a16="http://schemas.microsoft.com/office/drawing/2014/main" id="{465FAED0-1C22-B913-8432-696FED142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f3dee2ab2_0_799:notes">
            <a:extLst>
              <a:ext uri="{FF2B5EF4-FFF2-40B4-BE49-F238E27FC236}">
                <a16:creationId xmlns:a16="http://schemas.microsoft.com/office/drawing/2014/main" id="{E2000AAF-2381-7BDA-18A3-2E226919C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8458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A76D9629-1F5E-4464-E908-390AAAE6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f3dee2ab2_0_298:notes">
            <a:extLst>
              <a:ext uri="{FF2B5EF4-FFF2-40B4-BE49-F238E27FC236}">
                <a16:creationId xmlns:a16="http://schemas.microsoft.com/office/drawing/2014/main" id="{FAFBD5D6-DB69-5C10-EC33-867159717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f3dee2ab2_0_298:notes">
            <a:extLst>
              <a:ext uri="{FF2B5EF4-FFF2-40B4-BE49-F238E27FC236}">
                <a16:creationId xmlns:a16="http://schemas.microsoft.com/office/drawing/2014/main" id="{1D387D5E-4B10-EA1F-995E-DE83FCADD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4665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C73D091B-15B9-0098-EB2A-361B0261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f3dee2ab2_0_298:notes">
            <a:extLst>
              <a:ext uri="{FF2B5EF4-FFF2-40B4-BE49-F238E27FC236}">
                <a16:creationId xmlns:a16="http://schemas.microsoft.com/office/drawing/2014/main" id="{D701EEA9-2064-8D1D-3A1F-278731129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f3dee2ab2_0_298:notes">
            <a:extLst>
              <a:ext uri="{FF2B5EF4-FFF2-40B4-BE49-F238E27FC236}">
                <a16:creationId xmlns:a16="http://schemas.microsoft.com/office/drawing/2014/main" id="{E127CAF7-C32E-C3B2-1050-08F3ABE9F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0956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0A093AA6-D55B-2E3B-4896-BAF5BE9F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f3dee2ab2_0_298:notes">
            <a:extLst>
              <a:ext uri="{FF2B5EF4-FFF2-40B4-BE49-F238E27FC236}">
                <a16:creationId xmlns:a16="http://schemas.microsoft.com/office/drawing/2014/main" id="{4EBB59C0-B0D1-D4FF-FB9A-E18D60D01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f3dee2ab2_0_298:notes">
            <a:extLst>
              <a:ext uri="{FF2B5EF4-FFF2-40B4-BE49-F238E27FC236}">
                <a16:creationId xmlns:a16="http://schemas.microsoft.com/office/drawing/2014/main" id="{592882DB-8D62-9D14-B6B7-8D61D5DF0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0286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679FC7E4-056F-D090-F0BC-66CD4AA6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f3dee2ab2_0_298:notes">
            <a:extLst>
              <a:ext uri="{FF2B5EF4-FFF2-40B4-BE49-F238E27FC236}">
                <a16:creationId xmlns:a16="http://schemas.microsoft.com/office/drawing/2014/main" id="{2C1777B8-B37E-4028-F96E-552EA057F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14f3dee2ab2_0_298:notes">
            <a:extLst>
              <a:ext uri="{FF2B5EF4-FFF2-40B4-BE49-F238E27FC236}">
                <a16:creationId xmlns:a16="http://schemas.microsoft.com/office/drawing/2014/main" id="{A2553B77-005B-A0C5-93EF-48F039CCE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8303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7d5f8a07d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17d5f8a07d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3600" i="1"/>
            </a:lvl1pPr>
            <a:lvl2pPr marL="914400" lvl="1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3600" i="1"/>
            </a:lvl2pPr>
            <a:lvl3pPr marL="1371600" lvl="2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3600" i="1"/>
            </a:lvl3pPr>
            <a:lvl4pPr marL="1828800" lvl="3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4pPr>
            <a:lvl5pPr marL="2286000" lvl="4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5pPr>
            <a:lvl6pPr marL="2743200" lvl="5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6pPr>
            <a:lvl7pPr marL="3200400" lvl="6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7pPr>
            <a:lvl8pPr marL="3657600" lvl="7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8pPr>
            <a:lvl9pPr marL="4114800" lvl="8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9pPr>
          </a:lstStyle>
          <a:p>
            <a:endParaRPr/>
          </a:p>
        </p:txBody>
      </p:sp>
      <p:grpSp>
        <p:nvGrpSpPr>
          <p:cNvPr id="84" name="Google Shape;84;p18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85" name="Google Shape;85;p18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s-419" sz="6000" b="1" i="0" u="none" strike="noStrike" cap="none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6" name="Google Shape;86;p18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8" name="Google Shape;88;p18"/>
          <p:cNvCxnSpPr>
            <a:endCxn id="86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18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18"/>
          <p:cNvCxnSpPr/>
          <p:nvPr/>
        </p:nvCxnSpPr>
        <p:spPr>
          <a:xfrm rot="10800000" flipH="1">
            <a:off x="4704510" y="351930"/>
            <a:ext cx="347100" cy="47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-87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0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-92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s-419" sz="4400" dirty="0"/>
              <a:t>Microecomía Heterodoxa</a:t>
            </a:r>
            <a:endParaRPr sz="4400" dirty="0"/>
          </a:p>
        </p:txBody>
      </p:sp>
      <p:sp>
        <p:nvSpPr>
          <p:cNvPr id="68" name="Google Shape;68;p1"/>
          <p:cNvSpPr txBox="1"/>
          <p:nvPr/>
        </p:nvSpPr>
        <p:spPr>
          <a:xfrm>
            <a:off x="1668300" y="5177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</a:pPr>
            <a:r>
              <a:rPr lang="es-419" sz="2400" b="1" i="0" u="none" strike="noStrike" cap="none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Doctorado en Cs. Económicas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1441241" y="3874595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</a:pPr>
            <a:r>
              <a:rPr lang="es-419" sz="12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Profesor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</a:pPr>
            <a:r>
              <a:rPr lang="es-419" sz="12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Dr. Rodrigo Kataishi, Ph.D.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ctrTitle"/>
          </p:nvPr>
        </p:nvSpPr>
        <p:spPr>
          <a:xfrm>
            <a:off x="406225" y="2323250"/>
            <a:ext cx="79518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419"/>
              <a:t>Historicidad del pensamiento</a:t>
            </a:r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1"/>
          </p:nvPr>
        </p:nvSpPr>
        <p:spPr>
          <a:xfrm>
            <a:off x="669025" y="3315950"/>
            <a:ext cx="7689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Un breve recorrido por las heterodoxias</a:t>
            </a:r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ldNum" idx="4294967295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9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600" b="1" i="0" u="none" strike="noStrike" cap="non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459225" y="406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Hitos estructurantes del pensamiento</a:t>
            </a:r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  <p:sp>
        <p:nvSpPr>
          <p:cNvPr id="132" name="Google Shape;132;p26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26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134" name="Google Shape;134;p26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36" name="Google Shape;136;p26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137" name="Google Shape;137;p26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39" name="Google Shape;139;p26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140" name="Google Shape;140;p26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42" name="Google Shape;142;p26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143" name="Google Shape;143;p26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5" name="Google Shape;145;p26"/>
          <p:cNvSpPr/>
          <p:nvPr/>
        </p:nvSpPr>
        <p:spPr>
          <a:xfrm rot="-2700000">
            <a:off x="4922067" y="3645628"/>
            <a:ext cx="334744" cy="334744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26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147" name="Google Shape;147;p26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9" name="Google Shape;149;p26"/>
          <p:cNvSpPr txBox="1"/>
          <p:nvPr/>
        </p:nvSpPr>
        <p:spPr>
          <a:xfrm>
            <a:off x="1379850" y="12403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Propiedad privada, expansión colonial,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intercambio internacional, 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tecnologías de producción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Ciudades Fabriles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Crecimiento poblacional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Modernidad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Primera gran Crisis del capitalismo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Estado Liberal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Consolidación del capitalismo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Expansión sistema-mundo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Revoluciones tecno-organizacionales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Ferrocarril, electricidad, grandes corporaciones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6474335" y="3976837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Problemas del desarrollo</a:t>
            </a: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Tecnologías de producción </a:t>
            </a: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Financierización</a:t>
            </a: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502525" y="895525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Siglo XVIII-XIX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2566375" y="4749850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 Siglo XIX - Inicios XX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3525400" y="108368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 Siglo XIX - Inicios XX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4572000" y="471643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 Siglo XIX - Inicios XX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5562000" y="126728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1929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6622525" y="456403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50´s en adelante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E321CD-1C34-A4E0-AF46-0FEEE379363B}"/>
              </a:ext>
            </a:extLst>
          </p:cNvPr>
          <p:cNvSpPr txBox="1"/>
          <p:nvPr/>
        </p:nvSpPr>
        <p:spPr>
          <a:xfrm>
            <a:off x="7740305" y="3858729"/>
            <a:ext cx="1479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Redes globales de producción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Robótica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Persistencia de subdesarrollo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459225" y="406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Hitos estructurantes del pensamiento</a:t>
            </a: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4</a:t>
            </a:fld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27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169" name="Google Shape;169;p27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71" name="Google Shape;171;p27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172" name="Google Shape;172;p27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74" name="Google Shape;174;p27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175" name="Google Shape;175;p27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77" name="Google Shape;177;p27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178" name="Google Shape;178;p27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80" name="Google Shape;180;p27"/>
          <p:cNvSpPr/>
          <p:nvPr/>
        </p:nvSpPr>
        <p:spPr>
          <a:xfrm rot="-2700000">
            <a:off x="4922067" y="3645628"/>
            <a:ext cx="334744" cy="334744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7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182" name="Google Shape;182;p27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endParaRPr sz="600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84" name="Google Shape;184;p27"/>
          <p:cNvSpPr txBox="1"/>
          <p:nvPr/>
        </p:nvSpPr>
        <p:spPr>
          <a:xfrm>
            <a:off x="1379850" y="12403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Propiedad privada, expansión colonial,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intercambio internacional, 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tecnologías de producción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Ciudades Fabriles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Crecimiento poblacional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Modernidad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Primera gran Crisis del capitalismo</a:t>
            </a:r>
            <a:endParaRPr sz="900" b="0" i="0" u="none" strike="noStrike" cap="none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Estado Liberal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Consolidación del capitalismo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Expansión sistema-mundo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Revoluciones tecno-organizacionales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Ferrocarril, electricidad, grandes corporaciones</a:t>
            </a:r>
            <a:endParaRPr sz="9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1502525" y="895525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Siglo XVIII-XIX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2566375" y="4749850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 Siglo XIX - Inicios XX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3525400" y="108368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 Siglo XIX - Inicios XX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4572000" y="471643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 Siglo XIX - Inicios XX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5562000" y="126728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1929</a:t>
            </a:r>
            <a:endParaRPr sz="900" b="1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6622525" y="4564038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50´s en adelante</a:t>
            </a:r>
            <a:endParaRPr sz="900" b="1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1203725" y="847075"/>
            <a:ext cx="2466900" cy="4296300"/>
          </a:xfrm>
          <a:prstGeom prst="roundRect">
            <a:avLst>
              <a:gd name="adj" fmla="val 16667"/>
            </a:avLst>
          </a:prstGeom>
          <a:solidFill>
            <a:srgbClr val="FF0000">
              <a:alpha val="2330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2331230" y="847075"/>
            <a:ext cx="5745000" cy="4177500"/>
          </a:xfrm>
          <a:prstGeom prst="roundRect">
            <a:avLst>
              <a:gd name="adj" fmla="val 16667"/>
            </a:avLst>
          </a:prstGeom>
          <a:solidFill>
            <a:srgbClr val="0091EA">
              <a:alpha val="512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6334406" y="847075"/>
            <a:ext cx="2618678" cy="4177500"/>
          </a:xfrm>
          <a:prstGeom prst="roundRect">
            <a:avLst>
              <a:gd name="adj" fmla="val 16667"/>
            </a:avLst>
          </a:prstGeom>
          <a:solidFill>
            <a:srgbClr val="3B963A">
              <a:alpha val="8840"/>
            </a:srgb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54;p26">
            <a:extLst>
              <a:ext uri="{FF2B5EF4-FFF2-40B4-BE49-F238E27FC236}">
                <a16:creationId xmlns:a16="http://schemas.microsoft.com/office/drawing/2014/main" id="{E89D3AA9-5CEE-4E37-1F8C-17D5546F1681}"/>
              </a:ext>
            </a:extLst>
          </p:cNvPr>
          <p:cNvSpPr txBox="1"/>
          <p:nvPr/>
        </p:nvSpPr>
        <p:spPr>
          <a:xfrm>
            <a:off x="6474335" y="3976837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Problemas del desarrollo</a:t>
            </a: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Tecnologías de producción </a:t>
            </a: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Financierización</a:t>
            </a: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EC9772-544D-25DA-607E-E40785E626F4}"/>
              </a:ext>
            </a:extLst>
          </p:cNvPr>
          <p:cNvSpPr txBox="1"/>
          <p:nvPr/>
        </p:nvSpPr>
        <p:spPr>
          <a:xfrm>
            <a:off x="7740305" y="3858729"/>
            <a:ext cx="1479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Redes globales de producción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Robótica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Persistencia de subdesarrollo</a:t>
            </a:r>
          </a:p>
        </p:txBody>
      </p:sp>
      <p:sp>
        <p:nvSpPr>
          <p:cNvPr id="4" name="Google Shape;160;p26">
            <a:extLst>
              <a:ext uri="{FF2B5EF4-FFF2-40B4-BE49-F238E27FC236}">
                <a16:creationId xmlns:a16="http://schemas.microsoft.com/office/drawing/2014/main" id="{F0B4AEFD-999F-18DF-1913-B1AC6B098BF0}"/>
              </a:ext>
            </a:extLst>
          </p:cNvPr>
          <p:cNvSpPr txBox="1"/>
          <p:nvPr/>
        </p:nvSpPr>
        <p:spPr>
          <a:xfrm>
            <a:off x="7623375" y="4722059"/>
            <a:ext cx="9900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419" sz="900" b="1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00´s en adelante</a:t>
            </a:r>
            <a:endParaRPr sz="900" b="1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La economía clásica</a:t>
            </a:r>
            <a:endParaRPr b="1"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El mundo de los Clásicos (exponentes ineludibles), además de Marx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Smith</a:t>
            </a:r>
            <a:r>
              <a:rPr lang="es-419" sz="1600" dirty="0"/>
              <a:t> (1723-1790) 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Ricardo</a:t>
            </a:r>
            <a:r>
              <a:rPr lang="es-419" sz="1600" dirty="0"/>
              <a:t> (1772-1823) 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Mill</a:t>
            </a:r>
            <a:r>
              <a:rPr lang="es-419" sz="1600" dirty="0"/>
              <a:t> (1806-1873) - Harriet Taylor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Malthus</a:t>
            </a:r>
            <a:r>
              <a:rPr lang="es-419" sz="1600" dirty="0"/>
              <a:t> (1766-1824) 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Say</a:t>
            </a:r>
            <a:r>
              <a:rPr lang="es-419" sz="1600" dirty="0"/>
              <a:t> (1767-1832)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205" name="Google Shape;205;p28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La economía clásica</a:t>
            </a:r>
            <a:endParaRPr b="1"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El mundo de los Clásicos (exponentes ineludibles)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Smith</a:t>
            </a:r>
            <a:r>
              <a:rPr lang="es-419" sz="1600" dirty="0"/>
              <a:t> (1723-1790) - Mercado, valor de uso y cambio, liberalismo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Ricardo</a:t>
            </a:r>
            <a:r>
              <a:rPr lang="es-419" sz="1600" dirty="0"/>
              <a:t> (1772-1823) - Intercambio y comercio internacional, liberalismo, valor trabajo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Mill</a:t>
            </a:r>
            <a:r>
              <a:rPr lang="es-419" sz="1600" dirty="0"/>
              <a:t> (1806-1873) - Harriet Taylor -  Lógica inductiva y universalidad del saber, liberalismo, utilitarismo (colectivo), principio de utilidad, cuantificación utilidad y precios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Malthus</a:t>
            </a:r>
            <a:r>
              <a:rPr lang="es-419" sz="1600" dirty="0"/>
              <a:t> (1766-1824) - Crecimiento y población, dinámicas geométricas universales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Say</a:t>
            </a:r>
            <a:r>
              <a:rPr lang="es-419" sz="1600" dirty="0"/>
              <a:t> (1767-1832) - Mercados, cuantificación, matematización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212" name="Google Shape;212;p2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El mundo clásico</a:t>
            </a:r>
            <a:endParaRPr b="1"/>
          </a:p>
        </p:txBody>
      </p:sp>
      <p:sp>
        <p:nvSpPr>
          <p:cNvPr id="218" name="Google Shape;218;p30"/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600"/>
              <a:t>Entendimiento del mundo de la producción (generalización microeconómica) y del ciclo capitalista en los clásicos:</a:t>
            </a:r>
            <a:endParaRPr sz="16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/>
              <a:t>D-M-D´</a:t>
            </a: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/>
              <a:t>Dinero - Mercancía - Dinero´</a:t>
            </a: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/>
              <a:t>Dinero &lt; Dinero´</a:t>
            </a: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/>
              <a:t>Dinero´= D+d, donde d es un dinero adicional, una ganancia/renta</a:t>
            </a: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/>
          </a:p>
        </p:txBody>
      </p:sp>
      <p:sp>
        <p:nvSpPr>
          <p:cNvPr id="219" name="Google Shape;219;p3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mundo clásico</a:t>
            </a:r>
            <a:endParaRPr b="1" dirty="0"/>
          </a:p>
        </p:txBody>
      </p:sp>
      <p:sp>
        <p:nvSpPr>
          <p:cNvPr id="225" name="Google Shape;225;p31"/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600" dirty="0"/>
              <a:t>Entendimiento del mundo de la producción (generalización microeconómica) y del ciclo capitalista en los clásicos:</a:t>
            </a:r>
            <a:endParaRPr sz="1600"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 dirty="0"/>
              <a:t>D-M-D´</a:t>
            </a:r>
            <a:endParaRPr sz="1300"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 dirty="0">
                <a:highlight>
                  <a:srgbClr val="CFE2F3"/>
                </a:highlight>
              </a:rPr>
              <a:t>Dinero</a:t>
            </a:r>
            <a:r>
              <a:rPr lang="es-419" sz="1300" dirty="0"/>
              <a:t> - </a:t>
            </a:r>
            <a:r>
              <a:rPr lang="es-419" sz="1300" dirty="0">
                <a:highlight>
                  <a:srgbClr val="D9EAD3"/>
                </a:highlight>
              </a:rPr>
              <a:t>Mercancía</a:t>
            </a:r>
            <a:r>
              <a:rPr lang="es-419" sz="1300" dirty="0"/>
              <a:t> - Dinero´</a:t>
            </a:r>
            <a:endParaRPr sz="1300"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 dirty="0"/>
              <a:t>Dinero-</a:t>
            </a:r>
            <a:r>
              <a:rPr lang="es-419" sz="1300" dirty="0">
                <a:highlight>
                  <a:srgbClr val="D9EAD3"/>
                </a:highlight>
              </a:rPr>
              <a:t>(intercambio)[Insumos, Factores] → [Producción] → [Intercambio]</a:t>
            </a:r>
            <a:r>
              <a:rPr lang="es-419" sz="1300" dirty="0"/>
              <a:t>-</a:t>
            </a:r>
            <a:r>
              <a:rPr lang="es-419" sz="1300" dirty="0">
                <a:highlight>
                  <a:srgbClr val="F4CCCC"/>
                </a:highlight>
              </a:rPr>
              <a:t>Dinero´</a:t>
            </a:r>
            <a:endParaRPr sz="1300" dirty="0">
              <a:highlight>
                <a:srgbClr val="F4CCCC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 dirty="0">
                <a:highlight>
                  <a:srgbClr val="CFE2F3"/>
                </a:highlight>
              </a:rPr>
              <a:t>Dinero </a:t>
            </a:r>
            <a:r>
              <a:rPr lang="es-419" sz="1300" dirty="0"/>
              <a:t>&lt; </a:t>
            </a:r>
            <a:r>
              <a:rPr lang="es-419" sz="1300" dirty="0">
                <a:highlight>
                  <a:srgbClr val="F4CCCC"/>
                </a:highlight>
              </a:rPr>
              <a:t>Dinero´</a:t>
            </a:r>
            <a:endParaRPr sz="1300" dirty="0">
              <a:highlight>
                <a:srgbClr val="CFE2F3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300" dirty="0">
                <a:highlight>
                  <a:srgbClr val="F4CCCC"/>
                </a:highlight>
              </a:rPr>
              <a:t>Dinero´</a:t>
            </a:r>
            <a:r>
              <a:rPr lang="es-419" sz="1300" dirty="0"/>
              <a:t>= D+</a:t>
            </a:r>
            <a:r>
              <a:rPr lang="es-419" sz="1300" dirty="0">
                <a:highlight>
                  <a:srgbClr val="FFF2CC"/>
                </a:highlight>
              </a:rPr>
              <a:t>d</a:t>
            </a:r>
            <a:r>
              <a:rPr lang="es-419" sz="1300" dirty="0"/>
              <a:t>, donde d es un dinero adicional, </a:t>
            </a:r>
            <a:r>
              <a:rPr lang="es-419" sz="1300" dirty="0">
                <a:highlight>
                  <a:srgbClr val="FFF2CC"/>
                </a:highlight>
              </a:rPr>
              <a:t>una ganancia/renta</a:t>
            </a:r>
            <a:endParaRPr sz="1300" dirty="0">
              <a:highlight>
                <a:srgbClr val="FFF2CC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226" name="Google Shape;226;p3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  <p:graphicFrame>
        <p:nvGraphicFramePr>
          <p:cNvPr id="227" name="Google Shape;227;p31"/>
          <p:cNvGraphicFramePr/>
          <p:nvPr>
            <p:extLst>
              <p:ext uri="{D42A27DB-BD31-4B8C-83A1-F6EECF244321}">
                <p14:modId xmlns:p14="http://schemas.microsoft.com/office/powerpoint/2010/main" val="4251648664"/>
              </p:ext>
            </p:extLst>
          </p:nvPr>
        </p:nvGraphicFramePr>
        <p:xfrm>
          <a:off x="996525" y="3314925"/>
          <a:ext cx="7239000" cy="2026890"/>
        </p:xfrm>
        <a:graphic>
          <a:graphicData uri="http://schemas.openxmlformats.org/drawingml/2006/table">
            <a:tbl>
              <a:tblPr>
                <a:noFill/>
                <a:tableStyleId>{A52CA3AA-0DF0-4246-921D-E5EA78670AED}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Crecimiento</a:t>
                      </a: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Distribución del Ingreso</a:t>
                      </a: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Flujo circular de bienes y dinero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Automatismos y Reproducción simple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Leyes naturales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Rol de los Factores productivos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Valor de uso y valor de cambio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Valor trabajo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Idea de renta capitalista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Utilitarismo y cuantificación “de la felicidad”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Implicancias sobre el sistema de precios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 dirty="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No intervención (liberalismo económico)</a:t>
                      </a:r>
                      <a:endParaRPr sz="1300" dirty="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3A0582BB-B40D-A73F-1813-209753D9384E}"/>
              </a:ext>
            </a:extLst>
          </p:cNvPr>
          <p:cNvSpPr txBox="1"/>
          <p:nvPr/>
        </p:nvSpPr>
        <p:spPr>
          <a:xfrm>
            <a:off x="44053" y="3665143"/>
            <a:ext cx="87459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419" sz="1100" dirty="0">
                <a:latin typeface=""/>
              </a:rPr>
              <a:t>Conceptos clave que se tratan en los clásicos</a:t>
            </a:r>
            <a:endParaRPr lang="es-AR" sz="1100" dirty="0">
              <a:latin typeface="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24C5539-E65B-B194-C33D-8C29A7E95AC6}"/>
              </a:ext>
            </a:extLst>
          </p:cNvPr>
          <p:cNvSpPr txBox="1"/>
          <p:nvPr/>
        </p:nvSpPr>
        <p:spPr>
          <a:xfrm>
            <a:off x="1165707" y="1470996"/>
            <a:ext cx="658575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b="1" dirty="0">
                <a:latin typeface="Apple Braille" pitchFamily="2" charset="0"/>
                <a:cs typeface="AL BAYAN PLAIN" pitchFamily="2" charset="-78"/>
              </a:rPr>
              <a:t>La formalización como lenguaje: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 El análisis se traslada del estudio de agregados sociales (clases) a la modelización de la </a:t>
            </a:r>
            <a:r>
              <a:rPr lang="es-AR" b="1" dirty="0">
                <a:latin typeface="Apple Braille" pitchFamily="2" charset="0"/>
                <a:cs typeface="AL BAYAN PLAIN" pitchFamily="2" charset="-78"/>
              </a:rPr>
              <a:t>decisión de un individuo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. Este problema de optimización (maximizar utilidad o beneficio) encuentra en el cálculo y el lenguaje matemático su herramienta natural.</a:t>
            </a:r>
          </a:p>
          <a:p>
            <a:pPr>
              <a:buNone/>
            </a:pPr>
            <a:endParaRPr lang="es-AR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b="1" dirty="0">
                <a:latin typeface="Apple Braille" pitchFamily="2" charset="0"/>
                <a:cs typeface="AL BAYAN PLAIN" pitchFamily="2" charset="-78"/>
              </a:rPr>
              <a:t>La redefinición del problema económico: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 El foco deja de ser la acumulación y el crecimiento para centrarse en la </a:t>
            </a:r>
            <a:r>
              <a:rPr lang="es-AR" b="1" dirty="0">
                <a:latin typeface="Apple Braille" pitchFamily="2" charset="0"/>
                <a:cs typeface="AL BAYAN PLAIN" pitchFamily="2" charset="-78"/>
              </a:rPr>
              <a:t>asignación de recursos escasos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 frente a fines múltiples y competidores. La pregunta central pasa a ser ¿cómo se asignan eficientemente estos recursos?</a:t>
            </a:r>
          </a:p>
          <a:p>
            <a:pPr>
              <a:buNone/>
            </a:pPr>
            <a:endParaRPr lang="es-AR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b="1" dirty="0">
                <a:latin typeface="Apple Braille" pitchFamily="2" charset="0"/>
                <a:cs typeface="AL BAYAN PLAIN" pitchFamily="2" charset="-78"/>
              </a:rPr>
              <a:t>El rol central del mercado: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 Si el valor es subjetivo e individual, se necesita un mecanismo que permita agregar y compatibilizar estas valoraciones para coordinar la actividad económica. El mercado es postulado como esa </a:t>
            </a:r>
            <a:r>
              <a:rPr lang="es-AR" b="1" dirty="0">
                <a:latin typeface="Apple Braille" pitchFamily="2" charset="0"/>
                <a:cs typeface="AL BAYAN PLAIN" pitchFamily="2" charset="-78"/>
              </a:rPr>
              <a:t>arena de interacción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 fundamental.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CC4C5389-A095-084B-4F0F-99160F29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2D6558FE-00BD-5AB7-086C-CBBBBC54D5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35EA76D9-F010-59E0-3A4F-C2CC7F57B5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246961-D9AA-1EC2-916D-062A838F596D}"/>
              </a:ext>
            </a:extLst>
          </p:cNvPr>
          <p:cNvSpPr txBox="1"/>
          <p:nvPr/>
        </p:nvSpPr>
        <p:spPr>
          <a:xfrm>
            <a:off x="1172796" y="1619852"/>
            <a:ext cx="65857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Meta: 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universal</a:t>
            </a: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atemporal</a:t>
            </a: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abstracto, deductivo y lógico</a:t>
            </a: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formalizable (como canon del lenguaje científico)</a:t>
            </a:r>
          </a:p>
          <a:p>
            <a:pPr lvl="1"/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 lvl="1"/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Cómo lo hacemos? De dónde arrancamos?</a:t>
            </a:r>
          </a:p>
          <a:p>
            <a:pPr>
              <a:buNone/>
            </a:pPr>
            <a:endParaRPr lang="es-AR" sz="1800" dirty="0">
              <a:latin typeface="Apple Braille" pitchFamily="2" charset="0"/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4405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757D4577-97DC-E6C7-8A82-63846192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92338D2D-8251-2CD5-9C80-C42132B6D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8C82B589-BE51-C54E-1596-BF7B4602D1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11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168AFF-7EC5-365D-0BA0-1CCD3177171C}"/>
              </a:ext>
            </a:extLst>
          </p:cNvPr>
          <p:cNvSpPr txBox="1"/>
          <p:nvPr/>
        </p:nvSpPr>
        <p:spPr>
          <a:xfrm>
            <a:off x="1172796" y="1619852"/>
            <a:ext cx="65857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??? 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:)</a:t>
            </a:r>
          </a:p>
          <a:p>
            <a:pPr>
              <a:buNone/>
            </a:pPr>
            <a:endParaRPr lang="es-AR" sz="1800" dirty="0">
              <a:latin typeface="Apple Braille" pitchFamily="2" charset="0"/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0978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1CEFDDA7-B272-88D5-055E-712AC83A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5CEA92D1-12C5-6B96-CCEF-B186BD9F2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804965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La economía neoclásica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CC2DF133-69E6-046A-60A0-07B7CD70F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12</a:t>
            </a:fld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994284-A3BB-6913-B5AE-052EA3BEE5FD}"/>
              </a:ext>
            </a:extLst>
          </p:cNvPr>
          <p:cNvSpPr txBox="1"/>
          <p:nvPr/>
        </p:nvSpPr>
        <p:spPr>
          <a:xfrm>
            <a:off x="915059" y="1703587"/>
            <a:ext cx="74427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La teoría neoclásica marca una ruptura fundamental con el pensamiento clásico al desplazar el foco de análisis desde el crecimiento y la distribución del ingreso entre clases sociales (terratenientes, capitalistas, trabajadores) hacia la idea de “asignación eficiente” de recursos y la elección individual. </a:t>
            </a:r>
          </a:p>
          <a:p>
            <a:endParaRPr lang="es-AR" dirty="0">
              <a:latin typeface="-webkit-standard"/>
            </a:endParaRPr>
          </a:p>
          <a:p>
            <a:r>
              <a:rPr lang="es-A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diferencia de la teoría clásica del valor-trabajo, que anclaba el valor de un bien a su costo de producción objetivo, la "revolución marginalista" introduce una teoría subjetiva del valor, determinada por la utilidad que la última unidad de un bien le reporta al consumidor. </a:t>
            </a:r>
          </a:p>
          <a:p>
            <a:endParaRPr lang="es-AR" dirty="0">
              <a:latin typeface="-webkit-standard"/>
            </a:endParaRPr>
          </a:p>
          <a:p>
            <a:r>
              <a:rPr lang="es-A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 consecuencia, el problema económico se redefine: </a:t>
            </a:r>
            <a:r>
              <a:rPr lang="es-AR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ya no es la dinámica de la acumulación de capital </a:t>
            </a:r>
            <a:r>
              <a:rPr lang="es-A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largo plazo, </a:t>
            </a:r>
            <a:r>
              <a:rPr lang="es-AR" b="1" i="0" u="sng" strike="noStrike" dirty="0">
                <a:solidFill>
                  <a:srgbClr val="000000"/>
                </a:solidFill>
                <a:effectLst/>
                <a:latin typeface="-webkit-standard"/>
              </a:rPr>
              <a:t>es un problema de optimización</a:t>
            </a:r>
            <a:r>
              <a:rPr lang="es-A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donde agentes buscan maximizar su utilidad o beneficio, y los precios emergen de la interacción entre la escasez y las preferencias individuales en el mercado.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468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CCB92668-D25D-4086-3EE3-E0582F21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F8FE2DC0-61DC-2507-1234-A65CD6C8F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La economía neoclásica</a:t>
            </a:r>
            <a:endParaRPr b="1"/>
          </a:p>
        </p:txBody>
      </p:sp>
      <p:sp>
        <p:nvSpPr>
          <p:cNvPr id="233" name="Google Shape;233;p32">
            <a:extLst>
              <a:ext uri="{FF2B5EF4-FFF2-40B4-BE49-F238E27FC236}">
                <a16:creationId xmlns:a16="http://schemas.microsoft.com/office/drawing/2014/main" id="{BE184C05-9FC8-F9FB-3AA7-F21BC447E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Exponentes destacados, aunque esta lista deberá comprender muchos más autores ya que su número es extremadamente extenso 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Walras</a:t>
            </a:r>
            <a:r>
              <a:rPr lang="es-419" sz="1600" dirty="0"/>
              <a:t> 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Jevons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Marshall</a:t>
            </a: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Pareto</a:t>
            </a:r>
            <a:endParaRPr sz="1600" b="1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Menger</a:t>
            </a:r>
            <a:endParaRPr sz="1600" b="1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Arrow</a:t>
            </a:r>
            <a:endParaRPr sz="1600" b="1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Debreu</a:t>
            </a:r>
            <a:endParaRPr sz="1600" b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Solow</a:t>
            </a:r>
            <a:endParaRPr sz="1600" b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Inada</a:t>
            </a:r>
            <a:endParaRPr sz="1600" b="1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Friedman</a:t>
            </a:r>
            <a:endParaRPr sz="1600" b="1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b="1" dirty="0"/>
              <a:t>Samuelson</a:t>
            </a:r>
            <a:endParaRPr sz="1600" b="1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494C1134-0A11-D209-3C3D-E3F977A99F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13</a:t>
            </a:fld>
            <a:endParaRPr/>
          </a:p>
        </p:txBody>
      </p:sp>
      <p:sp>
        <p:nvSpPr>
          <p:cNvPr id="235" name="Google Shape;235;p32">
            <a:extLst>
              <a:ext uri="{FF2B5EF4-FFF2-40B4-BE49-F238E27FC236}">
                <a16:creationId xmlns:a16="http://schemas.microsoft.com/office/drawing/2014/main" id="{C163ABFB-FC1D-ED99-AF81-808732FB337C}"/>
              </a:ext>
            </a:extLst>
          </p:cNvPr>
          <p:cNvSpPr/>
          <p:nvPr/>
        </p:nvSpPr>
        <p:spPr>
          <a:xfrm>
            <a:off x="2206200" y="1683700"/>
            <a:ext cx="124200" cy="1179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2">
            <a:extLst>
              <a:ext uri="{FF2B5EF4-FFF2-40B4-BE49-F238E27FC236}">
                <a16:creationId xmlns:a16="http://schemas.microsoft.com/office/drawing/2014/main" id="{9E66370C-1FE5-C525-ADA8-455D50754A5B}"/>
              </a:ext>
            </a:extLst>
          </p:cNvPr>
          <p:cNvSpPr/>
          <p:nvPr/>
        </p:nvSpPr>
        <p:spPr>
          <a:xfrm>
            <a:off x="2359975" y="2889600"/>
            <a:ext cx="124200" cy="1522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2">
            <a:extLst>
              <a:ext uri="{FF2B5EF4-FFF2-40B4-BE49-F238E27FC236}">
                <a16:creationId xmlns:a16="http://schemas.microsoft.com/office/drawing/2014/main" id="{B53AB3A9-2B64-B27E-6451-B2934D8E8148}"/>
              </a:ext>
            </a:extLst>
          </p:cNvPr>
          <p:cNvSpPr txBox="1"/>
          <p:nvPr/>
        </p:nvSpPr>
        <p:spPr>
          <a:xfrm>
            <a:off x="2536000" y="20576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rgbClr val="701C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Siglo XIX</a:t>
            </a:r>
            <a:endParaRPr dirty="0">
              <a:solidFill>
                <a:srgbClr val="701C7F"/>
              </a:solidFill>
            </a:endParaRPr>
          </a:p>
        </p:txBody>
      </p:sp>
      <p:sp>
        <p:nvSpPr>
          <p:cNvPr id="238" name="Google Shape;238;p32">
            <a:extLst>
              <a:ext uri="{FF2B5EF4-FFF2-40B4-BE49-F238E27FC236}">
                <a16:creationId xmlns:a16="http://schemas.microsoft.com/office/drawing/2014/main" id="{5A0250B8-2148-60C0-4D6C-A47FE567066B}"/>
              </a:ext>
            </a:extLst>
          </p:cNvPr>
          <p:cNvSpPr txBox="1"/>
          <p:nvPr/>
        </p:nvSpPr>
        <p:spPr>
          <a:xfrm>
            <a:off x="2536000" y="33321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FF99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Siglo XX</a:t>
            </a:r>
            <a:endParaRPr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3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17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Enfoques holísticos y enfoques de transición</a:t>
            </a:r>
            <a:endParaRPr/>
          </a:p>
        </p:txBody>
      </p:sp>
      <p:sp>
        <p:nvSpPr>
          <p:cNvPr id="244" name="Google Shape;244;p33"/>
          <p:cNvSpPr txBox="1">
            <a:spLocks noGrp="1"/>
          </p:cNvSpPr>
          <p:nvPr>
            <p:ph type="body" idx="1"/>
          </p:nvPr>
        </p:nvSpPr>
        <p:spPr>
          <a:xfrm>
            <a:off x="6072050" y="522000"/>
            <a:ext cx="25872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/>
              <a:t>Marshall y Pareto.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500"/>
              <a:t>Es indudable su contribución clásica y su influencia directa sobre la teoría neoclásica (precios y demanda - Marshall - y equilibrio - Pareto-)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500"/>
              <a:t>Enfoques híbridos en el sentido de que su aproximación era holística y apoyada sobre elementos concretos de la realidad empírica, aunque su método fue notablemente formal de manera precursora. </a:t>
            </a:r>
            <a:endParaRPr sz="1500"/>
          </a:p>
        </p:txBody>
      </p:sp>
      <p:sp>
        <p:nvSpPr>
          <p:cNvPr id="245" name="Google Shape;245;p33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14</a:t>
            </a:fld>
            <a:endParaRPr/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800" y="2336725"/>
            <a:ext cx="1909175" cy="2341275"/>
          </a:xfrm>
          <a:prstGeom prst="rect">
            <a:avLst/>
          </a:prstGeom>
          <a:noFill/>
          <a:ln>
            <a:noFill/>
          </a:ln>
          <a:effectLst>
            <a:outerShdw blurRad="142875" dist="95250" dir="216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47" name="Google Shape;24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4500" y="396000"/>
            <a:ext cx="1758274" cy="2299276"/>
          </a:xfrm>
          <a:prstGeom prst="rect">
            <a:avLst/>
          </a:prstGeom>
          <a:noFill/>
          <a:ln>
            <a:noFill/>
          </a:ln>
          <a:effectLst>
            <a:outerShdw blurRad="142875" dist="95250" dir="21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El mundo neoclásico y el nacimiento del mainstream</a:t>
            </a:r>
            <a:endParaRPr b="1"/>
          </a:p>
        </p:txBody>
      </p:sp>
      <p:sp>
        <p:nvSpPr>
          <p:cNvPr id="253" name="Google Shape;253;p34"/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600"/>
              <a:t>Diferencias centrales con los clásicos</a:t>
            </a:r>
            <a:endParaRPr sz="16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30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/>
          </a:p>
        </p:txBody>
      </p:sp>
      <p:sp>
        <p:nvSpPr>
          <p:cNvPr id="254" name="Google Shape;254;p34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15</a:t>
            </a:fld>
            <a:endParaRPr/>
          </a:p>
        </p:txBody>
      </p:sp>
      <p:graphicFrame>
        <p:nvGraphicFramePr>
          <p:cNvPr id="255" name="Google Shape;255;p34"/>
          <p:cNvGraphicFramePr/>
          <p:nvPr/>
        </p:nvGraphicFramePr>
        <p:xfrm>
          <a:off x="989875" y="1167525"/>
          <a:ext cx="7239000" cy="1478250"/>
        </p:xfrm>
        <a:graphic>
          <a:graphicData uri="http://schemas.openxmlformats.org/drawingml/2006/table">
            <a:tbl>
              <a:tblPr>
                <a:noFill/>
                <a:tableStyleId>{A52CA3AA-0DF0-4246-921D-E5EA78670AED}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8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D-M-D´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Dinero - Mercancía - Dinero´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Dinero´&gt; Dinero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Dinero´= D+d, donde </a:t>
                      </a:r>
                      <a:r>
                        <a:rPr lang="es-419" sz="1300">
                          <a:solidFill>
                            <a:schemeClr val="dk1"/>
                          </a:solidFill>
                          <a:highlight>
                            <a:srgbClr val="CFE2F3"/>
                          </a:highlight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 es un dinero adicional, una ganancia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CFE2F3"/>
                        </a:highlight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D-M-D´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Aunque D=D´ debido a que D´→ D 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(supuesto de vaciamiento de los mercados)</a:t>
                      </a: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3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Beneficio = 0 en equilibrio</a:t>
                      </a:r>
                      <a:endParaRPr sz="13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" name="Google Shape;256;p34"/>
          <p:cNvSpPr txBox="1"/>
          <p:nvPr/>
        </p:nvSpPr>
        <p:spPr>
          <a:xfrm>
            <a:off x="1218450" y="2720725"/>
            <a:ext cx="67545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Principio de escasez (propiedad privada)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Separación entre economía y economía política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Principio de elección (libertad individual) y costo de oportunidad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Utilitarismo individual (Jevons) / Teoría subjetiva del valor (Menger) / Utilidad Mg (Marshall)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Revolución marginalista (CMg, PMg, UMg, Identidades microeconómicas, determinación de p)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Técnica matemática y física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mercado como generador del beneficio colectivo (laissez faire)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Equilibrio general</a:t>
            </a:r>
            <a:endParaRPr sz="1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 txBox="1">
            <a:spLocks noGrp="1"/>
          </p:cNvSpPr>
          <p:nvPr>
            <p:ph type="body" idx="1"/>
          </p:nvPr>
        </p:nvSpPr>
        <p:spPr>
          <a:xfrm>
            <a:off x="2587401" y="851115"/>
            <a:ext cx="1945200" cy="172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Canon Científico de la física newtoniana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El conocimiento científico como objetivo. Una justificación es objetiva si es verdad para cualquier caso.</a:t>
            </a:r>
            <a:endParaRPr sz="1200" dirty="0"/>
          </a:p>
        </p:txBody>
      </p:sp>
      <p:sp>
        <p:nvSpPr>
          <p:cNvPr id="310" name="Google Shape;310;p20"/>
          <p:cNvSpPr txBox="1">
            <a:spLocks noGrp="1"/>
          </p:cNvSpPr>
          <p:nvPr>
            <p:ph type="body" idx="2"/>
          </p:nvPr>
        </p:nvSpPr>
        <p:spPr>
          <a:xfrm>
            <a:off x="4632369" y="940815"/>
            <a:ext cx="1945200" cy="154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Atemporalidad, Universalidad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La verdad es el fin del conocimiento científico. La verdad no se modifica en el tiempo. Hay una verdad.  </a:t>
            </a:r>
            <a:endParaRPr sz="1200" dirty="0"/>
          </a:p>
        </p:txBody>
      </p:sp>
      <p:sp>
        <p:nvSpPr>
          <p:cNvPr id="311" name="Google Shape;311;p20"/>
          <p:cNvSpPr txBox="1">
            <a:spLocks noGrp="1"/>
          </p:cNvSpPr>
          <p:nvPr>
            <p:ph type="body" idx="3"/>
          </p:nvPr>
        </p:nvSpPr>
        <p:spPr>
          <a:xfrm>
            <a:off x="6677338" y="1030516"/>
            <a:ext cx="1945200" cy="154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ES" b="1" dirty="0"/>
              <a:t>Formalización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ha de ser justificable </a:t>
            </a:r>
            <a:r>
              <a:rPr lang="es-419" sz="1200" b="1" dirty="0"/>
              <a:t>formalmente (matemáticamente)</a:t>
            </a:r>
            <a:r>
              <a:rPr lang="es-419" sz="1200" dirty="0"/>
              <a:t>, independientemente de las interpretaciones subjetivas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 dirty="0"/>
          </a:p>
        </p:txBody>
      </p:sp>
      <p:sp>
        <p:nvSpPr>
          <p:cNvPr id="312" name="Google Shape;312;p20"/>
          <p:cNvSpPr txBox="1">
            <a:spLocks noGrp="1"/>
          </p:cNvSpPr>
          <p:nvPr>
            <p:ph type="body" idx="1"/>
          </p:nvPr>
        </p:nvSpPr>
        <p:spPr>
          <a:xfrm>
            <a:off x="2587401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Comunidad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Grupo de intelectuales que validan, reproducen y profundizan dentro de la corriente (por ejemplo, círculo de Vienna)</a:t>
            </a:r>
            <a:endParaRPr sz="1200" dirty="0"/>
          </a:p>
        </p:txBody>
      </p:sp>
      <p:sp>
        <p:nvSpPr>
          <p:cNvPr id="313" name="Google Shape;313;p20"/>
          <p:cNvSpPr txBox="1">
            <a:spLocks noGrp="1"/>
          </p:cNvSpPr>
          <p:nvPr>
            <p:ph type="body" idx="2"/>
          </p:nvPr>
        </p:nvSpPr>
        <p:spPr>
          <a:xfrm>
            <a:off x="4632369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700" b="1" dirty="0"/>
              <a:t>Institucionalidad</a:t>
            </a:r>
            <a:endParaRPr sz="17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100" dirty="0"/>
              <a:t>Espacios de diversa índole que propicien el trabajo intelectual y delimitan sus formas en un sentido particular</a:t>
            </a:r>
            <a:endParaRPr sz="1100" dirty="0"/>
          </a:p>
        </p:txBody>
      </p:sp>
      <p:sp>
        <p:nvSpPr>
          <p:cNvPr id="314" name="Google Shape;314;p20"/>
          <p:cNvSpPr txBox="1">
            <a:spLocks noGrp="1"/>
          </p:cNvSpPr>
          <p:nvPr>
            <p:ph type="body" idx="3"/>
          </p:nvPr>
        </p:nvSpPr>
        <p:spPr>
          <a:xfrm>
            <a:off x="6677338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Reproducción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Espacios académicos de formación en donde se reproducen estas ideas a comunidades futuras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 dirty="0"/>
          </a:p>
        </p:txBody>
      </p:sp>
      <p:sp>
        <p:nvSpPr>
          <p:cNvPr id="315" name="Google Shape;315;p20"/>
          <p:cNvSpPr txBox="1">
            <a:spLocks noGrp="1"/>
          </p:cNvSpPr>
          <p:nvPr>
            <p:ph type="title"/>
          </p:nvPr>
        </p:nvSpPr>
        <p:spPr>
          <a:xfrm>
            <a:off x="185100" y="11385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Máximas en la Construcción del conocimiento </a:t>
            </a:r>
            <a:r>
              <a:rPr lang="es-ES" dirty="0"/>
              <a:t>ortodoxo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316" name="Google Shape;316;p20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16</a:t>
            </a:fld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title"/>
          </p:nvPr>
        </p:nvSpPr>
        <p:spPr>
          <a:xfrm>
            <a:off x="275725" y="33688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Ortodoxia, Mainstream, y construcción del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Saber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ctrTitle" idx="4294967295"/>
          </p:nvPr>
        </p:nvSpPr>
        <p:spPr>
          <a:xfrm>
            <a:off x="2715325" y="1072875"/>
            <a:ext cx="55713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s-419" sz="5300" dirty="0">
                <a:solidFill>
                  <a:schemeClr val="accent3"/>
                </a:solidFill>
              </a:rPr>
              <a:t>Heterodoxias</a:t>
            </a:r>
            <a:endParaRPr sz="5300" b="0" i="0" u="none" strike="noStrike" cap="none" dirty="0">
              <a:solidFill>
                <a:schemeClr val="accent3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75" name="Google Shape;275;p36"/>
          <p:cNvSpPr txBox="1">
            <a:spLocks noGrp="1"/>
          </p:cNvSpPr>
          <p:nvPr>
            <p:ph type="subTitle" idx="4294967295"/>
          </p:nvPr>
        </p:nvSpPr>
        <p:spPr>
          <a:xfrm>
            <a:off x="2796050" y="2232675"/>
            <a:ext cx="5571300" cy="25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lang="es-419" sz="2400" b="1" dirty="0"/>
              <a:t>Concepciones elementales</a:t>
            </a:r>
            <a:endParaRPr sz="2400" b="0" i="0" u="none" strike="noStrike" cap="none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 dirty="0"/>
              <a:t>Y una breve reconstrucción simplificadora</a:t>
            </a:r>
            <a:endParaRPr sz="2400" b="0" i="0" u="none" strike="noStrike" cap="none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76" name="Google Shape;276;p36" descr="photo-1434030216411-0b793f4b4173.jpg"/>
          <p:cNvPicPr preferRelativeResize="0"/>
          <p:nvPr/>
        </p:nvPicPr>
        <p:blipFill rotWithShape="1">
          <a:blip r:embed="rId3">
            <a:alphaModFix/>
          </a:blip>
          <a:srcRect l="28831" r="30600"/>
          <a:stretch/>
        </p:blipFill>
        <p:spPr>
          <a:xfrm>
            <a:off x="0" y="0"/>
            <a:ext cx="2086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>
                <a:solidFill>
                  <a:srgbClr val="FFFFFF"/>
                </a:solidFill>
              </a:rPr>
              <a:t>17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>
            <a:spLocks noGrp="1"/>
          </p:cNvSpPr>
          <p:nvPr>
            <p:ph type="body" idx="1"/>
          </p:nvPr>
        </p:nvSpPr>
        <p:spPr>
          <a:xfrm>
            <a:off x="3070950" y="1376775"/>
            <a:ext cx="1175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Liberales</a:t>
            </a:r>
            <a:endParaRPr sz="1200"/>
          </a:p>
        </p:txBody>
      </p:sp>
      <p:sp>
        <p:nvSpPr>
          <p:cNvPr id="283" name="Google Shape;283;p37"/>
          <p:cNvSpPr txBox="1">
            <a:spLocks noGrp="1"/>
          </p:cNvSpPr>
          <p:nvPr>
            <p:ph type="title"/>
          </p:nvPr>
        </p:nvSpPr>
        <p:spPr>
          <a:xfrm>
            <a:off x="261300" y="18243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Clásicos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84" name="Google Shape;284;p37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18</a:t>
            </a:fld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title"/>
          </p:nvPr>
        </p:nvSpPr>
        <p:spPr>
          <a:xfrm>
            <a:off x="2930850" y="3257550"/>
            <a:ext cx="1315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sz="1300">
                <a:solidFill>
                  <a:srgbClr val="FF9900"/>
                </a:solidFill>
              </a:rPr>
              <a:t>Heterodoxia</a:t>
            </a:r>
            <a:endParaRPr sz="1300">
              <a:solidFill>
                <a:srgbClr val="FF99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300">
              <a:solidFill>
                <a:srgbClr val="FF9900"/>
              </a:solidFill>
            </a:endParaRPr>
          </a:p>
        </p:txBody>
      </p:sp>
      <p:sp>
        <p:nvSpPr>
          <p:cNvPr id="286" name="Google Shape;286;p37"/>
          <p:cNvSpPr txBox="1">
            <a:spLocks noGrp="1"/>
          </p:cNvSpPr>
          <p:nvPr>
            <p:ph type="body" idx="1"/>
          </p:nvPr>
        </p:nvSpPr>
        <p:spPr>
          <a:xfrm>
            <a:off x="3105050" y="2836295"/>
            <a:ext cx="19452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Marx</a:t>
            </a:r>
            <a:endParaRPr sz="1200"/>
          </a:p>
        </p:txBody>
      </p:sp>
      <p:sp>
        <p:nvSpPr>
          <p:cNvPr id="287" name="Google Shape;287;p37"/>
          <p:cNvSpPr txBox="1">
            <a:spLocks noGrp="1"/>
          </p:cNvSpPr>
          <p:nvPr>
            <p:ph type="body" idx="1"/>
          </p:nvPr>
        </p:nvSpPr>
        <p:spPr>
          <a:xfrm>
            <a:off x="4648200" y="1316250"/>
            <a:ext cx="40989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/>
              <a:t>Explicación y argumentos de los beneficios del sistema capitalista</a:t>
            </a:r>
            <a:endParaRPr sz="1200"/>
          </a:p>
        </p:txBody>
      </p:sp>
      <p:sp>
        <p:nvSpPr>
          <p:cNvPr id="288" name="Google Shape;288;p37"/>
          <p:cNvSpPr txBox="1">
            <a:spLocks noGrp="1"/>
          </p:cNvSpPr>
          <p:nvPr>
            <p:ph type="body" idx="1"/>
          </p:nvPr>
        </p:nvSpPr>
        <p:spPr>
          <a:xfrm>
            <a:off x="4771025" y="2752125"/>
            <a:ext cx="40989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>
                <a:solidFill>
                  <a:srgbClr val="FF0000"/>
                </a:solidFill>
              </a:rPr>
              <a:t>Crítica</a:t>
            </a:r>
            <a:r>
              <a:rPr lang="es-419"/>
              <a:t> al sistema capitalista y sus implicancias</a:t>
            </a:r>
            <a:endParaRPr sz="1200"/>
          </a:p>
        </p:txBody>
      </p:sp>
      <p:cxnSp>
        <p:nvCxnSpPr>
          <p:cNvPr id="289" name="Google Shape;289;p37"/>
          <p:cNvCxnSpPr/>
          <p:nvPr/>
        </p:nvCxnSpPr>
        <p:spPr>
          <a:xfrm rot="10800000" flipH="1">
            <a:off x="1395200" y="1590975"/>
            <a:ext cx="1573200" cy="5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7"/>
          <p:cNvCxnSpPr>
            <a:endCxn id="286" idx="1"/>
          </p:cNvCxnSpPr>
          <p:nvPr/>
        </p:nvCxnSpPr>
        <p:spPr>
          <a:xfrm>
            <a:off x="1430750" y="2105345"/>
            <a:ext cx="1674300" cy="103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38"/>
          <p:cNvGraphicFramePr/>
          <p:nvPr/>
        </p:nvGraphicFramePr>
        <p:xfrm>
          <a:off x="361000" y="581675"/>
          <a:ext cx="8422000" cy="3779350"/>
        </p:xfrm>
        <a:graphic>
          <a:graphicData uri="http://schemas.openxmlformats.org/drawingml/2006/table">
            <a:tbl>
              <a:tblPr>
                <a:noFill/>
                <a:tableStyleId>{A52CA3AA-0DF0-4246-921D-E5EA78670AED}</a:tableStyleId>
              </a:tblPr>
              <a:tblGrid>
                <a:gridCol w="16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Ortodoxia, Mainstream</a:t>
                      </a:r>
                      <a:endParaRPr sz="1000"/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0091EA">
                        <a:alpha val="51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Liberales Clásicos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1EA">
                        <a:alpha val="512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Neoliberales (neoclásicos)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1EA">
                        <a:alpha val="51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00">
                <a:tc rowSpan="6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Heterodoxias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FF0000">
                        <a:alpha val="233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Dentro del sistema capitalista</a:t>
                      </a:r>
                      <a:endParaRPr sz="10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>
                        <a:alpha val="2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Knight, Young, Verdoorn</a:t>
                      </a:r>
                      <a:endParaRPr sz="10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0000">
                        <a:alpha val="233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solidFill>
                      <a:srgbClr val="FF0000">
                        <a:alpha val="233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Keynes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FF0000">
                        <a:alpha val="233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Neokeynesianos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FF0000">
                        <a:alpha val="2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Postkeynesianos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FF0000">
                        <a:alpha val="23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Neoricardianos</a:t>
                      </a:r>
                      <a:endParaRPr sz="1000"/>
                    </a:p>
                  </a:txBody>
                  <a:tcPr marL="91425" marR="91425" marT="91425" marB="91425" anchor="ctr">
                    <a:solidFill>
                      <a:srgbClr val="FF0000">
                        <a:alpha val="23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2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Veblen</a:t>
                      </a:r>
                      <a:endParaRPr sz="1000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>
                        <a:alpha val="2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Institucionalismo</a:t>
                      </a:r>
                      <a:endParaRPr sz="1000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>
                        <a:alpha val="23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Neoinstitucionalismo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>
                        <a:alpha val="23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Schumpeter</a:t>
                      </a:r>
                      <a:endParaRPr sz="10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>
                        <a:alpha val="233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Neoschumpeterianos</a:t>
                      </a:r>
                      <a:endParaRPr sz="10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>
                        <a:alpha val="233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Fuera del sistema capitalista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963A">
                        <a:alpha val="88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Marxismo clásico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963A">
                        <a:alpha val="88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Neomarxismo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963A">
                        <a:alpha val="88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Postmarxismo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963A">
                        <a:alpha val="88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/>
        </p:nvSpPr>
        <p:spPr>
          <a:xfrm>
            <a:off x="487800" y="473950"/>
            <a:ext cx="724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Source Sans Pro"/>
                <a:ea typeface="Source Sans Pro"/>
                <a:cs typeface="Source Sans Pro"/>
                <a:sym typeface="Source Sans Pro"/>
              </a:rPr>
              <a:t>Principales dimensiones de crítica heterodoxa sobre la teoría neoclásica</a:t>
            </a:r>
            <a:endParaRPr sz="1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1171125" y="1017375"/>
            <a:ext cx="42600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Equilibrio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Homoeconomicus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Agregación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Competencia Perfecta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Supuestos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○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De la firma y de la producción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○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Del consumidor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○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Del sistema capitalista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○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Del mercado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Mecánicas y mecanismos del capitalismo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El rol del Estado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Empresas, beneficios, prácticas, rol sistémico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Diferencias con la realidad empírica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Tecnología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s-419">
                <a:latin typeface="Source Sans Pro"/>
                <a:ea typeface="Source Sans Pro"/>
                <a:cs typeface="Source Sans Pro"/>
                <a:sym typeface="Source Sans Pro"/>
              </a:rPr>
              <a:t>Método y representaciones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/>
        </p:nvSpPr>
        <p:spPr>
          <a:xfrm>
            <a:off x="1836550" y="1946675"/>
            <a:ext cx="5184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accent3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¿Supervivencia, adaptación y predominio de la teoría neoclásica?</a:t>
            </a:r>
            <a:endParaRPr sz="2800">
              <a:solidFill>
                <a:schemeClr val="accent3"/>
              </a:solidFill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>
            <a:spLocks noGrp="1"/>
          </p:cNvSpPr>
          <p:nvPr>
            <p:ph type="body" idx="1"/>
          </p:nvPr>
        </p:nvSpPr>
        <p:spPr>
          <a:xfrm>
            <a:off x="2587401" y="34471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Paradigma dominante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Ciencia acorde a la condición histórica. La ciencia normal y sus leyes, supuestos, métodos, técnicas y principios metafísicos son legítimos y legitimados. Ocupa un período determinado.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 </a:t>
            </a:r>
            <a:endParaRPr sz="1200"/>
          </a:p>
        </p:txBody>
      </p:sp>
      <p:sp>
        <p:nvSpPr>
          <p:cNvPr id="312" name="Google Shape;312;p41"/>
          <p:cNvSpPr txBox="1">
            <a:spLocks noGrp="1"/>
          </p:cNvSpPr>
          <p:nvPr>
            <p:ph type="body" idx="2"/>
          </p:nvPr>
        </p:nvSpPr>
        <p:spPr>
          <a:xfrm>
            <a:off x="4632369" y="34471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Crisis y revoluciones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Problemas irresolubles dentro del paradigma. Emergencia de una alternativa incompatible con el paradigma anterior. La revolución del paradigma se centra en derribar los fundamentos del paradigma previo (núcleo central). </a:t>
            </a:r>
            <a:endParaRPr sz="1200"/>
          </a:p>
        </p:txBody>
      </p:sp>
      <p:sp>
        <p:nvSpPr>
          <p:cNvPr id="313" name="Google Shape;313;p41"/>
          <p:cNvSpPr txBox="1">
            <a:spLocks noGrp="1"/>
          </p:cNvSpPr>
          <p:nvPr>
            <p:ph type="body" idx="3"/>
          </p:nvPr>
        </p:nvSpPr>
        <p:spPr>
          <a:xfrm>
            <a:off x="6677338" y="34471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Cinturones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Los programas de investigación tienen bases o núcleos centrales y principios periféricos. Éstos son el cinturón protector del núcleo central. El choque de programas sólo lleva a la transición si el núcleo central es desplazado por una nueva norma. 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/>
          </a:p>
        </p:txBody>
      </p:sp>
      <p:sp>
        <p:nvSpPr>
          <p:cNvPr id="314" name="Google Shape;314;p41"/>
          <p:cNvSpPr txBox="1">
            <a:spLocks noGrp="1"/>
          </p:cNvSpPr>
          <p:nvPr>
            <p:ph type="body" idx="1"/>
          </p:nvPr>
        </p:nvSpPr>
        <p:spPr>
          <a:xfrm>
            <a:off x="2587401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Contraposición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Se define en disidencia del paradigma dominante. </a:t>
            </a:r>
            <a:endParaRPr sz="1200"/>
          </a:p>
        </p:txBody>
      </p:sp>
      <p:sp>
        <p:nvSpPr>
          <p:cNvPr id="315" name="Google Shape;315;p41"/>
          <p:cNvSpPr txBox="1">
            <a:spLocks noGrp="1"/>
          </p:cNvSpPr>
          <p:nvPr>
            <p:ph type="body" idx="2"/>
          </p:nvPr>
        </p:nvSpPr>
        <p:spPr>
          <a:xfrm>
            <a:off x="4632369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Crítica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Plantea una serie de críticas, en diferentes niveles, que buscan confrontar la construcción mainstream. </a:t>
            </a:r>
            <a:endParaRPr sz="1200"/>
          </a:p>
        </p:txBody>
      </p:sp>
      <p:sp>
        <p:nvSpPr>
          <p:cNvPr id="316" name="Google Shape;316;p41"/>
          <p:cNvSpPr txBox="1">
            <a:spLocks noGrp="1"/>
          </p:cNvSpPr>
          <p:nvPr>
            <p:ph type="body" idx="3"/>
          </p:nvPr>
        </p:nvSpPr>
        <p:spPr>
          <a:xfrm>
            <a:off x="6677338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Disputa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A partir de la contraposición y la crítica, disputan el espacio de paradigma dominante, o de programa de investigación normal.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/>
          </a:p>
        </p:txBody>
      </p:sp>
      <p:sp>
        <p:nvSpPr>
          <p:cNvPr id="317" name="Google Shape;317;p41"/>
          <p:cNvSpPr txBox="1">
            <a:spLocks noGrp="1"/>
          </p:cNvSpPr>
          <p:nvPr>
            <p:ph type="title"/>
          </p:nvPr>
        </p:nvSpPr>
        <p:spPr>
          <a:xfrm>
            <a:off x="185100" y="11385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Paradigma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22</a:t>
            </a:fld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/>
          </p:nvPr>
        </p:nvSpPr>
        <p:spPr>
          <a:xfrm>
            <a:off x="275725" y="33688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Heterodoxia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23</a:t>
            </a:fld>
            <a:endParaRPr/>
          </a:p>
        </p:txBody>
      </p:sp>
      <p:pic>
        <p:nvPicPr>
          <p:cNvPr id="325" name="Google Shape;32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25" y="267225"/>
            <a:ext cx="8157230" cy="4445053"/>
          </a:xfrm>
          <a:prstGeom prst="rect">
            <a:avLst/>
          </a:prstGeom>
          <a:noFill/>
          <a:ln>
            <a:noFill/>
          </a:ln>
          <a:effectLst>
            <a:outerShdw blurRad="342900" dist="11430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24</a:t>
            </a:fld>
            <a:endParaRPr/>
          </a:p>
        </p:txBody>
      </p:sp>
      <p:pic>
        <p:nvPicPr>
          <p:cNvPr id="331" name="Google Shape;33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28600"/>
            <a:ext cx="8555889" cy="4445052"/>
          </a:xfrm>
          <a:prstGeom prst="rect">
            <a:avLst/>
          </a:prstGeom>
          <a:noFill/>
          <a:ln>
            <a:noFill/>
          </a:ln>
          <a:effectLst>
            <a:outerShdw blurRad="485775" dist="114300" dir="6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5D3CD8AE-E13C-799B-EB8D-3B259090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7F33F720-0792-7785-2510-F82324FFF2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9788" y="2220450"/>
            <a:ext cx="3727236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¿Cuál es el núcleo ontológico de la teoría neoclásica?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FFC26AAE-731B-22B5-4053-626589D09C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4061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E15BF701-C058-73CA-6E68-1484101A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2C902C80-0B7C-8AF6-23F7-8DA5708B7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C32C1C30-1BF1-E68A-C8BF-CABDBFDD7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26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9588452-122B-49C2-603F-1F29DA03BDFB}"/>
              </a:ext>
            </a:extLst>
          </p:cNvPr>
          <p:cNvSpPr txBox="1"/>
          <p:nvPr/>
        </p:nvSpPr>
        <p:spPr>
          <a:xfrm>
            <a:off x="1172796" y="1619852"/>
            <a:ext cx="65857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Meta: 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universal</a:t>
            </a: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atemporal</a:t>
            </a: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abstracto, deductivo y lógico</a:t>
            </a: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Sistema formalizable (como canon del lenguaje científico)</a:t>
            </a:r>
          </a:p>
          <a:p>
            <a:pPr lvl="1"/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 lvl="1"/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 lvl="1"/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Cómo lo hacemos? De dónde arrancamos?</a:t>
            </a:r>
          </a:p>
          <a:p>
            <a:pPr>
              <a:buNone/>
            </a:pPr>
            <a:endParaRPr lang="es-AR" sz="1800" dirty="0">
              <a:latin typeface="Apple Braille" pitchFamily="2" charset="0"/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918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D86EBF96-64D0-72CE-A740-DCC7A4C3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70FE23DA-30C7-969E-7AEE-F8FBEE60D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12111970-6046-99A6-C284-FEFFCFD8BC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27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E9CA42-51DB-0E9D-F8C8-58110ADC6710}"/>
              </a:ext>
            </a:extLst>
          </p:cNvPr>
          <p:cNvSpPr txBox="1"/>
          <p:nvPr/>
        </p:nvSpPr>
        <p:spPr>
          <a:xfrm>
            <a:off x="1172796" y="1619852"/>
            <a:ext cx="65857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Versión 2:  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endParaRPr lang="es-AR" sz="1800" dirty="0">
              <a:latin typeface="Apple Braille" pitchFamily="2" charset="0"/>
              <a:cs typeface="Al Bayan Plain" pitchFamily="2" charset="-78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5BB680-2FC6-CB47-D296-9559442D9E9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41600" y="1677600"/>
            <a:ext cx="274150" cy="27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05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C62648C9-F37B-3F09-1E5A-4D2CCA6F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EBA40F1F-317C-E410-26DE-2F64B4C4C7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33AD5DE8-2836-B491-9599-0172C480D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28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306055-F5D9-DCCF-5D8D-86994A450AB5}"/>
              </a:ext>
            </a:extLst>
          </p:cNvPr>
          <p:cNvSpPr txBox="1"/>
          <p:nvPr/>
        </p:nvSpPr>
        <p:spPr>
          <a:xfrm>
            <a:off x="1194396" y="1971585"/>
            <a:ext cx="65857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Agentes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Bienes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Mercado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---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Elementos exógenos</a:t>
            </a:r>
          </a:p>
        </p:txBody>
      </p:sp>
    </p:spTree>
    <p:extLst>
      <p:ext uri="{BB962C8B-B14F-4D97-AF65-F5344CB8AC3E}">
        <p14:creationId xmlns:p14="http://schemas.microsoft.com/office/powerpoint/2010/main" val="4015824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1E364B50-EDD7-7FF2-18FC-5FE89AC7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93C68A4F-12A7-419C-2707-DC7BB81AE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988CC198-55FC-3986-47B9-AE0147D808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29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838BC6-5370-FBAE-21DD-DA73B09FD7DD}"/>
              </a:ext>
            </a:extLst>
          </p:cNvPr>
          <p:cNvSpPr txBox="1"/>
          <p:nvPr/>
        </p:nvSpPr>
        <p:spPr>
          <a:xfrm>
            <a:off x="1194396" y="1971585"/>
            <a:ext cx="65857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Mercado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Agentes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Bienes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---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Elementos exógenos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0A6819-7D90-845F-3CDE-7C5B1BB2466D}"/>
              </a:ext>
            </a:extLst>
          </p:cNvPr>
          <p:cNvSpPr txBox="1"/>
          <p:nvPr/>
        </p:nvSpPr>
        <p:spPr>
          <a:xfrm>
            <a:off x="3208153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3"/>
                </a:solidFill>
                <a:latin typeface="Apple Braille" pitchFamily="2" charset="0"/>
                <a:cs typeface="AL BAYAN PLAIN" pitchFamily="2" charset="-78"/>
              </a:rPr>
              <a:t>Ordenando… definámoslos</a:t>
            </a:r>
            <a:endParaRPr lang="es-AR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34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14B60A8A-64F3-ABE4-2EFC-2B703194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4CB7AEF7-A1AB-8BC5-63EC-06C7AF899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19357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07D94E02-22A4-02BC-DA9A-430324C76B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30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4A4BDA-ECC7-FFDF-F30A-941299FBE80C}"/>
              </a:ext>
            </a:extLst>
          </p:cNvPr>
          <p:cNvSpPr txBox="1"/>
          <p:nvPr/>
        </p:nvSpPr>
        <p:spPr>
          <a:xfrm>
            <a:off x="1194396" y="1021006"/>
            <a:ext cx="71634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Mercado: entidad metafísica, fuerza estructurante</a:t>
            </a:r>
          </a:p>
          <a:p>
            <a:endParaRPr lang="es-AR" sz="1600" b="1" dirty="0">
              <a:latin typeface="Apple Braille" pitchFamily="2" charset="0"/>
              <a:cs typeface="AL BAYAN PLAIN" pitchFamily="2" charset="-78"/>
            </a:endParaRPr>
          </a:p>
          <a:p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Agentes: </a:t>
            </a:r>
            <a:r>
              <a:rPr lang="es-AR" sz="1600" dirty="0">
                <a:latin typeface="Apple Braille" pitchFamily="2" charset="0"/>
                <a:cs typeface="Al Bayan Plain" pitchFamily="2" charset="-78"/>
              </a:rPr>
              <a:t>Principio formal no empírico que sintetiza la acción del intercambio. </a:t>
            </a:r>
            <a:r>
              <a:rPr lang="es-AR" sz="1600" dirty="0">
                <a:latin typeface="Apple Braille" pitchFamily="2" charset="0"/>
                <a:cs typeface="Al Bayan Plain" pitchFamily="2" charset="-78"/>
              </a:rPr>
              <a:t>Entidades con propiedades clave de elección decisión y optimización formal (</a:t>
            </a:r>
            <a:r>
              <a:rPr lang="es-AR" sz="1600" dirty="0" err="1">
                <a:latin typeface="Apple Braille" pitchFamily="2" charset="0"/>
                <a:cs typeface="Al Bayan Plain" pitchFamily="2" charset="-78"/>
              </a:rPr>
              <a:t>Debreu</a:t>
            </a:r>
            <a:r>
              <a:rPr lang="es-AR" sz="1600" dirty="0">
                <a:latin typeface="Apple Braille" pitchFamily="2" charset="0"/>
                <a:cs typeface="Al Bayan Plain" pitchFamily="2" charset="-78"/>
              </a:rPr>
              <a:t>/Samuelson</a:t>
            </a:r>
            <a:r>
              <a:rPr lang="es-AR" sz="1600" dirty="0">
                <a:latin typeface="Apple Braille" pitchFamily="2" charset="0"/>
                <a:cs typeface="Al Bayan Plain" pitchFamily="2" charset="-78"/>
              </a:rPr>
              <a:t>). </a:t>
            </a:r>
          </a:p>
          <a:p>
            <a:pPr>
              <a:buNone/>
            </a:pPr>
            <a:endParaRPr lang="es-AR" sz="16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Bienes: </a:t>
            </a:r>
            <a:r>
              <a:rPr lang="es-AR" sz="1600" dirty="0">
                <a:latin typeface="Apple Braille" pitchFamily="2" charset="0"/>
                <a:cs typeface="Al Bayan Plain" pitchFamily="2" charset="-78"/>
              </a:rPr>
              <a:t>soportes de valor mesurable.</a:t>
            </a:r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 </a:t>
            </a:r>
            <a:r>
              <a:rPr lang="es-AR" sz="1600" dirty="0"/>
              <a:t>“bien” = entrega de un servicio en un tiempo-estado</a:t>
            </a:r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 </a:t>
            </a:r>
            <a:r>
              <a:rPr lang="es-AR" sz="1600" dirty="0">
                <a:latin typeface="Apple Braille" pitchFamily="2" charset="0"/>
                <a:cs typeface="Al Bayan Plain" pitchFamily="2" charset="-78"/>
              </a:rPr>
              <a:t>(Arrow, 1957)</a:t>
            </a:r>
          </a:p>
          <a:p>
            <a:pPr>
              <a:buNone/>
            </a:pPr>
            <a:endParaRPr lang="es-AR" sz="16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---</a:t>
            </a:r>
          </a:p>
          <a:p>
            <a:pPr>
              <a:buNone/>
            </a:pPr>
            <a:endParaRPr lang="es-AR" sz="16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600" b="1" dirty="0">
                <a:latin typeface="Apple Braille" pitchFamily="2" charset="0"/>
                <a:cs typeface="AL BAYAN PLAIN" pitchFamily="2" charset="-78"/>
              </a:rPr>
              <a:t>Elementos exógenos:</a:t>
            </a:r>
          </a:p>
          <a:p>
            <a:pPr>
              <a:buNone/>
            </a:pPr>
            <a:r>
              <a:rPr lang="es-AR" b="1" dirty="0">
                <a:latin typeface="Apple Braille" pitchFamily="2" charset="0"/>
                <a:cs typeface="Al Bayan Plain" pitchFamily="2" charset="-78"/>
              </a:rPr>
              <a:t>Estado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: garante jurídico de propiedad y contrato (subtipo de agente). </a:t>
            </a:r>
            <a:r>
              <a:rPr lang="es-AR" b="1" dirty="0">
                <a:latin typeface="Apple Braille" pitchFamily="2" charset="0"/>
                <a:cs typeface="Al Bayan Plain" pitchFamily="2" charset="-78"/>
              </a:rPr>
              <a:t>Naturaleza</a:t>
            </a:r>
            <a:r>
              <a:rPr lang="es-AR" dirty="0">
                <a:latin typeface="Apple Braille" pitchFamily="2" charset="0"/>
                <a:cs typeface="Al Bayan Plain" pitchFamily="2" charset="-78"/>
              </a:rPr>
              <a:t>: es la condición de posibilidad del campo económico (subtipo de bien, los factores: Tierra, recursos minerales, energía, tiempo, capacidad humana, todos son manifestaciones del sustrato físico natural.) </a:t>
            </a:r>
            <a:endParaRPr lang="es-AR" sz="16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endParaRPr lang="es-AR" sz="1600" b="1" dirty="0">
              <a:latin typeface="Apple Braille" pitchFamily="2" charset="0"/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32133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022C2FC0-E151-1646-2FBC-D9B2E899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06EF3099-B856-4A66-F004-37AB0524F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9FEB3F62-0C60-D3A3-522E-6525A1BA6A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31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752A2E-53EF-0D73-DF9D-B53F8FE2BA38}"/>
              </a:ext>
            </a:extLst>
          </p:cNvPr>
          <p:cNvSpPr txBox="1"/>
          <p:nvPr/>
        </p:nvSpPr>
        <p:spPr>
          <a:xfrm>
            <a:off x="1121673" y="1266561"/>
            <a:ext cx="71634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Mercado: entidad metafísica, fuerza estructurante, principio de coordinación, condición de economía: principio ontológico. </a:t>
            </a:r>
          </a:p>
          <a:p>
            <a:r>
              <a:rPr lang="es-AR" dirty="0"/>
              <a:t>es la forma universal bajo la cual todo agente, todo bien y toda relación pueden existir como </a:t>
            </a:r>
            <a:r>
              <a:rPr lang="es-AR" i="1" dirty="0"/>
              <a:t>económicos</a:t>
            </a:r>
            <a:r>
              <a:rPr lang="es-AR" dirty="0"/>
              <a:t>.</a:t>
            </a:r>
          </a:p>
          <a:p>
            <a:endParaRPr lang="es-AR" dirty="0"/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62E71D-B172-04FC-3DE3-DBDF75EEE895}"/>
              </a:ext>
            </a:extLst>
          </p:cNvPr>
          <p:cNvSpPr txBox="1"/>
          <p:nvPr/>
        </p:nvSpPr>
        <p:spPr>
          <a:xfrm>
            <a:off x="1903394" y="2409752"/>
            <a:ext cx="578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8"/>
            <a:r>
              <a:rPr lang="es-AR" dirty="0"/>
              <a:t>- no hay “afuera del mercado” dentro del sistema neoclásico:</a:t>
            </a:r>
          </a:p>
          <a:p>
            <a:pPr lvl="8"/>
            <a:r>
              <a:rPr lang="es-AR" dirty="0"/>
              <a:t>lo que no puede ser intercambiado ni valuado, simplemente </a:t>
            </a:r>
            <a:r>
              <a:rPr lang="es-AR" b="1" dirty="0"/>
              <a:t>no existe económicamente</a:t>
            </a:r>
            <a:r>
              <a:rPr lang="es-AR" dirty="0"/>
              <a:t>. Es la </a:t>
            </a:r>
            <a:r>
              <a:rPr lang="es-AR" b="1" dirty="0"/>
              <a:t>forma universal de ser de lo económico</a:t>
            </a:r>
            <a:r>
              <a:rPr lang="es-AR" dirty="0"/>
              <a:t>.</a:t>
            </a:r>
          </a:p>
          <a:p>
            <a:pPr lvl="8"/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C650C3-E42F-F328-3DB2-B2A96A8691B5}"/>
              </a:ext>
            </a:extLst>
          </p:cNvPr>
          <p:cNvSpPr txBox="1"/>
          <p:nvPr/>
        </p:nvSpPr>
        <p:spPr>
          <a:xfrm>
            <a:off x="1861200" y="3194716"/>
            <a:ext cx="654318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- Entidad no empírica, sino </a:t>
            </a:r>
            <a:r>
              <a:rPr lang="es-AR" b="1" dirty="0"/>
              <a:t>transcendental-funcional</a:t>
            </a:r>
            <a:r>
              <a:rPr lang="es-AR" dirty="0"/>
              <a:t>. No “existe” en el mundo empírico como un objeto, sino como el </a:t>
            </a:r>
            <a:r>
              <a:rPr lang="es-AR" b="1" dirty="0"/>
              <a:t>campo de fuerzas</a:t>
            </a:r>
            <a:r>
              <a:rPr lang="es-AR" dirty="0"/>
              <a:t> que hace posible la existencia económica de los objetos.</a:t>
            </a:r>
          </a:p>
          <a:p>
            <a:endParaRPr lang="es-AR" dirty="0"/>
          </a:p>
          <a:p>
            <a:pPr lvl="0">
              <a:buSzPts val="1400"/>
            </a:pPr>
            <a:r>
              <a:rPr lang="es-AR" dirty="0"/>
              <a:t>- No se percibe, no se mide, no se prueba; </a:t>
            </a:r>
            <a:r>
              <a:rPr lang="es-AR" b="1" dirty="0"/>
              <a:t>Sin él, la teoría neoclásica no puede pensar la existencia económica</a:t>
            </a:r>
            <a:r>
              <a:rPr lang="es-AR" dirty="0"/>
              <a:t>. </a:t>
            </a:r>
          </a:p>
          <a:p>
            <a:pPr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51601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F723C862-B290-24B3-743B-11951378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BFD90606-FA4B-1C09-5F01-CD37047250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87805CB6-A8D3-0A1F-3387-615B424A9A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32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A3DC35-BF20-D247-560E-A2EDE597CA5D}"/>
              </a:ext>
            </a:extLst>
          </p:cNvPr>
          <p:cNvSpPr txBox="1"/>
          <p:nvPr/>
        </p:nvSpPr>
        <p:spPr>
          <a:xfrm>
            <a:off x="1121673" y="1266561"/>
            <a:ext cx="71634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Mercado: entidad metafísica, fuerza estructurante, principio de coordinación, condición de economía: principio ontológico. </a:t>
            </a:r>
          </a:p>
          <a:p>
            <a:r>
              <a:rPr lang="es-AR" dirty="0"/>
              <a:t>es la forma universal bajo la cual todo agente, todo bien y toda relación pueden existir como </a:t>
            </a:r>
            <a:r>
              <a:rPr lang="es-AR" i="1" dirty="0"/>
              <a:t>económicos</a:t>
            </a:r>
            <a:r>
              <a:rPr lang="es-AR" dirty="0"/>
              <a:t>.</a:t>
            </a:r>
          </a:p>
          <a:p>
            <a:endParaRPr lang="es-AR" dirty="0"/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1CDC3A-DF07-82F5-7366-4DF6B38EE003}"/>
              </a:ext>
            </a:extLst>
          </p:cNvPr>
          <p:cNvSpPr txBox="1"/>
          <p:nvPr/>
        </p:nvSpPr>
        <p:spPr>
          <a:xfrm>
            <a:off x="1903394" y="2409752"/>
            <a:ext cx="578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8"/>
            <a:r>
              <a:rPr lang="es-AR" dirty="0"/>
              <a:t>- no hay “afuera del mercado” dentro del sistema neoclásico:</a:t>
            </a:r>
          </a:p>
          <a:p>
            <a:pPr lvl="8"/>
            <a:r>
              <a:rPr lang="es-AR" dirty="0"/>
              <a:t>lo que no puede ser intercambiado ni valuado, simplemente </a:t>
            </a:r>
            <a:r>
              <a:rPr lang="es-AR" b="1" dirty="0"/>
              <a:t>no existe económicamente</a:t>
            </a:r>
            <a:r>
              <a:rPr lang="es-AR" dirty="0"/>
              <a:t>. Es la </a:t>
            </a:r>
            <a:r>
              <a:rPr lang="es-AR" b="1" dirty="0"/>
              <a:t>forma universal de ser de lo económico</a:t>
            </a:r>
            <a:r>
              <a:rPr lang="es-AR" dirty="0"/>
              <a:t>.</a:t>
            </a:r>
          </a:p>
          <a:p>
            <a:pPr lvl="8"/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56D8F2-ED01-35B6-2D40-C171B4007263}"/>
              </a:ext>
            </a:extLst>
          </p:cNvPr>
          <p:cNvSpPr txBox="1"/>
          <p:nvPr/>
        </p:nvSpPr>
        <p:spPr>
          <a:xfrm>
            <a:off x="2285999" y="329216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dirty="0"/>
              <a:t>La </a:t>
            </a:r>
            <a:r>
              <a:rPr lang="es-AR" b="1" dirty="0"/>
              <a:t>consecuencia ontológica más radical</a:t>
            </a:r>
            <a:r>
              <a:rPr lang="es-AR" dirty="0"/>
              <a:t> del sistema neoclásico en su versión formal (Walras → Arrow–</a:t>
            </a:r>
            <a:r>
              <a:rPr lang="es-AR" dirty="0" err="1"/>
              <a:t>Debreu</a:t>
            </a:r>
            <a:r>
              <a:rPr lang="es-AR" dirty="0"/>
              <a:t> → </a:t>
            </a:r>
            <a:r>
              <a:rPr lang="es-AR" dirty="0" err="1"/>
              <a:t>Debreu</a:t>
            </a:r>
            <a:r>
              <a:rPr lang="es-AR" dirty="0"/>
              <a:t> 1959):</a:t>
            </a:r>
            <a:br>
              <a:rPr lang="es-AR" dirty="0"/>
            </a:br>
            <a:endParaRPr lang="es-AR" dirty="0"/>
          </a:p>
          <a:p>
            <a:pPr>
              <a:buNone/>
            </a:pPr>
            <a:r>
              <a:rPr lang="es-A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La economía solo existe en equilibrio.</a:t>
            </a:r>
          </a:p>
          <a:p>
            <a:pPr>
              <a:buNone/>
            </a:pPr>
            <a:endParaRPr lang="es-AR" b="1" dirty="0">
              <a:solidFill>
                <a:srgbClr val="0E0E0E"/>
              </a:solidFill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s-AR" b="1" dirty="0">
                <a:solidFill>
                  <a:schemeClr val="accent3"/>
                </a:solidFill>
                <a:latin typeface="Helvetica Neue" panose="02000503000000020004" pitchFamily="2" charset="0"/>
              </a:rPr>
              <a:t>…continuará…         </a:t>
            </a:r>
            <a:endParaRPr lang="es-AR" dirty="0">
              <a:solidFill>
                <a:schemeClr val="accent3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A63C78-E16F-7101-4F11-B0C36583F1F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66604" y="4579539"/>
            <a:ext cx="257216" cy="26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7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88264727-2E51-29C0-555D-235B3A19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EC85E70E-D137-99F3-F1A9-CC6D5CFFD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A59D1F69-717F-B158-4CA0-F0698070B2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33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51E209B-8EC6-F860-4DC7-2AF5EB97D4DA}"/>
              </a:ext>
            </a:extLst>
          </p:cNvPr>
          <p:cNvSpPr txBox="1"/>
          <p:nvPr/>
        </p:nvSpPr>
        <p:spPr>
          <a:xfrm>
            <a:off x="1121673" y="1266561"/>
            <a:ext cx="71634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Mercado: entidad metafísica, fuerza estructurante, principio de coordinación, condición de economía: principio ontológico. </a:t>
            </a:r>
          </a:p>
          <a:p>
            <a:r>
              <a:rPr lang="es-AR" dirty="0"/>
              <a:t>es la forma universal bajo la cual todo agente, todo bien y toda relación pueden existir como </a:t>
            </a:r>
            <a:r>
              <a:rPr lang="es-AR" i="1" dirty="0"/>
              <a:t>económicos</a:t>
            </a:r>
            <a:r>
              <a:rPr lang="es-AR" dirty="0"/>
              <a:t>.</a:t>
            </a:r>
          </a:p>
          <a:p>
            <a:endParaRPr lang="es-AR" dirty="0"/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FF6791-7F88-CBF4-26B3-DFD4AB8C1E7A}"/>
              </a:ext>
            </a:extLst>
          </p:cNvPr>
          <p:cNvSpPr txBox="1"/>
          <p:nvPr/>
        </p:nvSpPr>
        <p:spPr>
          <a:xfrm>
            <a:off x="1644206" y="2556951"/>
            <a:ext cx="61183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dirty="0"/>
              <a:t>La </a:t>
            </a:r>
            <a:r>
              <a:rPr lang="es-AR" b="1" dirty="0"/>
              <a:t>consecuencia ontológica más radical</a:t>
            </a:r>
            <a:r>
              <a:rPr lang="es-AR" dirty="0"/>
              <a:t> del sistema neoclásico en su versión formal (Walras → Arrow–</a:t>
            </a:r>
            <a:r>
              <a:rPr lang="es-AR" dirty="0" err="1"/>
              <a:t>Debreu</a:t>
            </a:r>
            <a:r>
              <a:rPr lang="es-AR" dirty="0"/>
              <a:t> → </a:t>
            </a:r>
            <a:r>
              <a:rPr lang="es-AR" dirty="0" err="1"/>
              <a:t>Debreu</a:t>
            </a:r>
            <a:r>
              <a:rPr lang="es-AR" dirty="0"/>
              <a:t> 1959):</a:t>
            </a:r>
            <a:br>
              <a:rPr lang="es-AR" dirty="0"/>
            </a:br>
            <a:endParaRPr lang="es-AR" dirty="0"/>
          </a:p>
          <a:p>
            <a:pPr>
              <a:buNone/>
            </a:pPr>
            <a:r>
              <a:rPr lang="es-A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La economía solo existe en equilibrio.</a:t>
            </a:r>
          </a:p>
          <a:p>
            <a:pPr>
              <a:buNone/>
            </a:pPr>
            <a:endParaRPr lang="es-AR" b="1" dirty="0">
              <a:solidFill>
                <a:srgbClr val="0E0E0E"/>
              </a:solidFill>
              <a:latin typeface="Helvetica Neue" panose="02000503000000020004" pitchFamily="2" charset="0"/>
            </a:endParaRPr>
          </a:p>
          <a:p>
            <a:r>
              <a:rPr lang="es-AR" b="1" dirty="0">
                <a:solidFill>
                  <a:schemeClr val="accent3"/>
                </a:solidFill>
                <a:latin typeface="Helvetica Neue" panose="02000503000000020004" pitchFamily="2" charset="0"/>
              </a:rPr>
              <a:t>…continuará…         PERO: </a:t>
            </a:r>
            <a:r>
              <a:rPr lang="es-AR" dirty="0"/>
              <a:t>No hay un “mundo económico” desordenado o en transición; simplemente </a:t>
            </a:r>
            <a:r>
              <a:rPr lang="es-AR" b="1" dirty="0"/>
              <a:t>no hay mundo económico fuera de</a:t>
            </a:r>
            <a:r>
              <a:rPr lang="es-AR" dirty="0"/>
              <a:t>:</a:t>
            </a:r>
          </a:p>
          <a:p>
            <a:pPr>
              <a:buNone/>
            </a:pPr>
            <a:endParaRPr lang="es-AR" dirty="0">
              <a:solidFill>
                <a:schemeClr val="accent3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793CFA-E1C9-684A-3D97-706BD9E9FA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99445" y="3654623"/>
            <a:ext cx="257216" cy="26843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288E8F0-E42B-C26F-FB11-CCC274982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148" y="4143696"/>
            <a:ext cx="3492500" cy="90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49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BAA099D3-FFB9-990A-F8F0-26AEDD50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76A15B0E-E106-2CDA-8FEA-92330496E2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2615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C8D5080E-15E5-4C84-C3A3-522FECB250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34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D487AA-5033-6A6D-A331-378BFFAF0EC8}"/>
              </a:ext>
            </a:extLst>
          </p:cNvPr>
          <p:cNvSpPr txBox="1"/>
          <p:nvPr/>
        </p:nvSpPr>
        <p:spPr>
          <a:xfrm>
            <a:off x="1085673" y="1156271"/>
            <a:ext cx="7163453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Agente:</a:t>
            </a:r>
            <a:endParaRPr lang="es-AR" dirty="0"/>
          </a:p>
          <a:p>
            <a:endParaRPr lang="es-AR" sz="1100" dirty="0"/>
          </a:p>
          <a:p>
            <a:endParaRPr lang="es-AR" sz="1100" dirty="0"/>
          </a:p>
          <a:p>
            <a:r>
              <a:rPr lang="es-AR" sz="1200" dirty="0"/>
              <a:t>Es una unidad económica, el punto donde se originan las decisiones que el sistema necesita para existir</a:t>
            </a:r>
          </a:p>
          <a:p>
            <a:endParaRPr lang="es-AR" sz="1200" dirty="0"/>
          </a:p>
          <a:p>
            <a:r>
              <a:rPr lang="es-AR" sz="1200" dirty="0"/>
              <a:t>→ En el canon Arrow–</a:t>
            </a:r>
            <a:r>
              <a:rPr lang="es-AR" sz="1200" dirty="0" err="1"/>
              <a:t>Debreu</a:t>
            </a:r>
            <a:r>
              <a:rPr lang="es-AR" sz="1200" dirty="0"/>
              <a:t>, esas dos estructuras </a:t>
            </a:r>
            <a:r>
              <a:rPr lang="es-AR" sz="1200" i="1" dirty="0"/>
              <a:t>constituyen</a:t>
            </a:r>
            <a:r>
              <a:rPr lang="es-AR" sz="1200" dirty="0"/>
              <a:t> al agente:</a:t>
            </a:r>
          </a:p>
          <a:p>
            <a:endParaRPr lang="es-AR" sz="1200" dirty="0"/>
          </a:p>
          <a:p>
            <a:r>
              <a:rPr lang="es-AR" sz="1200" dirty="0"/>
              <a:t>1) Es </a:t>
            </a:r>
            <a:r>
              <a:rPr lang="es-AR" sz="1200" b="1" dirty="0"/>
              <a:t>formal</a:t>
            </a:r>
            <a:r>
              <a:rPr lang="es-AR" sz="1200" dirty="0"/>
              <a:t>, no empírico</a:t>
            </a:r>
          </a:p>
          <a:p>
            <a:endParaRPr lang="es-AR" sz="1200" dirty="0"/>
          </a:p>
          <a:p>
            <a:r>
              <a:rPr lang="es-AR" sz="1200" dirty="0"/>
              <a:t>2) Es </a:t>
            </a:r>
            <a:r>
              <a:rPr lang="es-AR" sz="1200" b="1" dirty="0"/>
              <a:t>portador de dotaciones</a:t>
            </a:r>
            <a:r>
              <a:rPr lang="es-AR" sz="1200" dirty="0"/>
              <a:t> (recursos iniciales) y </a:t>
            </a:r>
            <a:r>
              <a:rPr lang="es-AR" sz="1200" b="1" dirty="0"/>
              <a:t>de preferencias</a:t>
            </a:r>
            <a:r>
              <a:rPr lang="es-AR" sz="1200" dirty="0"/>
              <a:t> (ordenamientos de bienes). </a:t>
            </a:r>
          </a:p>
          <a:p>
            <a:endParaRPr lang="es-AR" sz="1200" dirty="0"/>
          </a:p>
          <a:p>
            <a:r>
              <a:rPr lang="es-AR" sz="1200" b="1" dirty="0"/>
              <a:t>unidad económica</a:t>
            </a:r>
            <a:r>
              <a:rPr lang="es-AR" sz="1200" dirty="0"/>
              <a:t>: puede ser un hogar, una firma, una cooperativa, un consorcio, incluso una coalición.</a:t>
            </a:r>
          </a:p>
          <a:p>
            <a:endParaRPr lang="es-AR" sz="1200" dirty="0"/>
          </a:p>
          <a:p>
            <a:r>
              <a:rPr lang="es-AR" sz="1200" dirty="0"/>
              <a:t>Encarnan los </a:t>
            </a:r>
            <a:r>
              <a:rPr lang="es-AR" sz="1200" b="1" dirty="0"/>
              <a:t>actos de elección/intercambio</a:t>
            </a:r>
            <a:r>
              <a:rPr lang="es-AR" sz="1200" dirty="0"/>
              <a:t> </a:t>
            </a:r>
          </a:p>
          <a:p>
            <a:endParaRPr lang="es-AR" sz="1200" dirty="0"/>
          </a:p>
          <a:p>
            <a:r>
              <a:rPr lang="es-AR" sz="1200" b="1" dirty="0"/>
              <a:t>Unidades decisorias que maximizan un orden de preferencia (o beneficio) dada una restricción (presupuesto/tecnología).</a:t>
            </a:r>
          </a:p>
          <a:p>
            <a:endParaRPr lang="es-AR" sz="1600" dirty="0"/>
          </a:p>
          <a:p>
            <a:endParaRPr lang="es-AR" sz="1800" dirty="0"/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1554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4FFEA0DC-907A-6421-A1C3-154E6DF4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891C0A17-4F29-526C-83B0-F34A0ACA1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49" y="563961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A2F70AC2-5BA0-6943-2273-511DC487C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35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A526C74-EFC3-EA5A-DD66-38E685546F9F}"/>
              </a:ext>
            </a:extLst>
          </p:cNvPr>
          <p:cNvSpPr txBox="1"/>
          <p:nvPr/>
        </p:nvSpPr>
        <p:spPr>
          <a:xfrm>
            <a:off x="1121673" y="1266561"/>
            <a:ext cx="716345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Bien:</a:t>
            </a:r>
          </a:p>
          <a:p>
            <a:r>
              <a:rPr lang="es-AR" dirty="0"/>
              <a:t>Un bien es una </a:t>
            </a:r>
            <a:r>
              <a:rPr lang="es-AR" b="1" dirty="0"/>
              <a:t>unidad disponible de un elemento económico</a:t>
            </a:r>
            <a:r>
              <a:rPr lang="es-AR" dirty="0"/>
              <a:t>, sin referencia a su origen físico.</a:t>
            </a:r>
          </a:p>
          <a:p>
            <a:r>
              <a:rPr lang="es-AR" dirty="0"/>
              <a:t>Es la </a:t>
            </a:r>
            <a:r>
              <a:rPr lang="es-AR" b="1" dirty="0"/>
              <a:t>entrega</a:t>
            </a:r>
            <a:r>
              <a:rPr lang="es-AR" dirty="0"/>
              <a:t> de un servicio en un tiempo-estado (</a:t>
            </a:r>
            <a:r>
              <a:rPr lang="es-AR" dirty="0" err="1"/>
              <a:t>Debreu</a:t>
            </a:r>
            <a:r>
              <a:rPr lang="es-AR" dirty="0"/>
              <a:t>, 1957)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304B23-6E6C-E3FC-E014-4A40024B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050" y="2443993"/>
            <a:ext cx="1608350" cy="34835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5303E8F-DF34-31AF-B227-BEC8F657B86C}"/>
              </a:ext>
            </a:extLst>
          </p:cNvPr>
          <p:cNvSpPr txBox="1"/>
          <p:nvPr/>
        </p:nvSpPr>
        <p:spPr>
          <a:xfrm>
            <a:off x="2417399" y="302546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dirty="0">
                <a:solidFill>
                  <a:srgbClr val="0E0E0E"/>
                </a:solidFill>
                <a:effectLst/>
                <a:latin typeface=".AppleSystemUIFont"/>
              </a:rPr>
              <a:t>Es objeto económico de elección; entidad definida por su escasez y por su posibilidad de intercambio, soporte del valor y de la conmensurabilidad.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CBCB1C-1363-F790-38DB-3EC023A53A0B}"/>
              </a:ext>
            </a:extLst>
          </p:cNvPr>
          <p:cNvSpPr txBox="1"/>
          <p:nvPr/>
        </p:nvSpPr>
        <p:spPr>
          <a:xfrm>
            <a:off x="2417400" y="378564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AR" sz="1100" dirty="0"/>
              <a:t>Es </a:t>
            </a:r>
            <a:r>
              <a:rPr lang="es-AR" sz="1100" b="1" dirty="0"/>
              <a:t>finito</a:t>
            </a:r>
            <a:r>
              <a:rPr lang="es-AR" sz="1100" dirty="0"/>
              <a:t> 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2B8D7A-0547-B87C-7EED-B5C578E3F899}"/>
              </a:ext>
            </a:extLst>
          </p:cNvPr>
          <p:cNvSpPr txBox="1"/>
          <p:nvPr/>
        </p:nvSpPr>
        <p:spPr>
          <a:xfrm>
            <a:off x="2417400" y="409341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AR" sz="1100" dirty="0"/>
              <a:t>Es </a:t>
            </a:r>
            <a:r>
              <a:rPr lang="es-AR" sz="1100" b="1" dirty="0"/>
              <a:t>comparable y divisible</a:t>
            </a:r>
            <a:endParaRPr lang="es-AR" sz="11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B168F0-A70F-AC5A-620C-3DBE67514570}"/>
              </a:ext>
            </a:extLst>
          </p:cNvPr>
          <p:cNvSpPr txBox="1"/>
          <p:nvPr/>
        </p:nvSpPr>
        <p:spPr>
          <a:xfrm>
            <a:off x="2417399" y="4409041"/>
            <a:ext cx="56538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AR" sz="1100" b="1" dirty="0"/>
              <a:t>Contiene información del mundo en forma abstracta</a:t>
            </a:r>
            <a:endParaRPr lang="es-AR" sz="1100" dirty="0"/>
          </a:p>
        </p:txBody>
      </p:sp>
    </p:spTree>
    <p:extLst>
      <p:ext uri="{BB962C8B-B14F-4D97-AF65-F5344CB8AC3E}">
        <p14:creationId xmlns:p14="http://schemas.microsoft.com/office/powerpoint/2010/main" val="1484281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27EC0BC1-80D9-45CB-94F6-DADF87456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>
            <a:extLst>
              <a:ext uri="{FF2B5EF4-FFF2-40B4-BE49-F238E27FC236}">
                <a16:creationId xmlns:a16="http://schemas.microsoft.com/office/drawing/2014/main" id="{AB8F3D83-E1C4-9707-B9D7-0894217EA95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36</a:t>
            </a:fld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4840CF-345B-290D-50FD-F78C14DB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39910"/>
            <a:ext cx="7772400" cy="406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30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763F0F01-7631-C745-E917-610B8CCA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9087F053-D37E-5EAD-FC9D-C7D51E7C2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-48039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E23460A3-5F3C-3F48-FE74-09BF97FDED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37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6FF90DF-3B55-843B-9062-BA125685581E}"/>
              </a:ext>
            </a:extLst>
          </p:cNvPr>
          <p:cNvSpPr txBox="1"/>
          <p:nvPr/>
        </p:nvSpPr>
        <p:spPr>
          <a:xfrm>
            <a:off x="1279121" y="1133427"/>
            <a:ext cx="65857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Mercado: Coordina, Equilibra. </a:t>
            </a:r>
          </a:p>
          <a:p>
            <a:pPr>
              <a:buNone/>
            </a:pPr>
            <a:endParaRPr lang="es-AR" sz="1800" b="1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Agentes: tienen objetivos. 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	- intercambian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	- maximizan: </a:t>
            </a:r>
            <a:r>
              <a:rPr lang="es-AR" sz="1200" dirty="0">
                <a:latin typeface="Apple Braille" pitchFamily="2" charset="0"/>
                <a:cs typeface="Al Bayan Plain" pitchFamily="2" charset="-78"/>
              </a:rPr>
              <a:t>Cuando no hay máximo único (o no hay “</a:t>
            </a:r>
            <a:r>
              <a:rPr lang="es-AR" sz="1200" dirty="0" err="1">
                <a:latin typeface="Apple Braille" pitchFamily="2" charset="0"/>
                <a:cs typeface="Al Bayan Plain" pitchFamily="2" charset="-78"/>
              </a:rPr>
              <a:t>argmax</a:t>
            </a:r>
            <a:r>
              <a:rPr lang="es-AR" sz="1200" dirty="0">
                <a:latin typeface="Apple Braille" pitchFamily="2" charset="0"/>
                <a:cs typeface="Al Bayan Plain" pitchFamily="2" charset="-78"/>
              </a:rPr>
              <a:t>” por detalles topológicos), el canon asegura condiciones para que exista (</a:t>
            </a:r>
            <a:r>
              <a:rPr lang="es-AR" sz="1200" dirty="0" err="1">
                <a:latin typeface="Apple Braille" pitchFamily="2" charset="0"/>
                <a:cs typeface="Al Bayan Plain" pitchFamily="2" charset="-78"/>
              </a:rPr>
              <a:t>compactitud</a:t>
            </a:r>
            <a:r>
              <a:rPr lang="es-AR" sz="1200" dirty="0">
                <a:latin typeface="Apple Braille" pitchFamily="2" charset="0"/>
                <a:cs typeface="Al Bayan Plain" pitchFamily="2" charset="-78"/>
              </a:rPr>
              <a:t>, no saciedad local, etc.) o trabaja con elementos </a:t>
            </a:r>
            <a:r>
              <a:rPr lang="es-AR" sz="1200" dirty="0" err="1">
                <a:latin typeface="Apple Braille" pitchFamily="2" charset="0"/>
                <a:cs typeface="Al Bayan Plain" pitchFamily="2" charset="-78"/>
              </a:rPr>
              <a:t>maximales</a:t>
            </a:r>
            <a:r>
              <a:rPr lang="es-AR" sz="1200" dirty="0">
                <a:latin typeface="Apple Braille" pitchFamily="2" charset="0"/>
                <a:cs typeface="Al Bayan Plain" pitchFamily="2" charset="-78"/>
              </a:rPr>
              <a:t>. Pero la regla de maximización sigue siendo el postulado de conducta.</a:t>
            </a:r>
            <a:endParaRPr lang="es-AR" sz="1800" dirty="0">
              <a:latin typeface="Apple Braille" pitchFamily="2" charset="0"/>
              <a:cs typeface="Al Bayan Plain" pitchFamily="2" charset="-78"/>
            </a:endParaRP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  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Bienes: 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	- precios (a nivel sistema, mercado; a nivel agente, preferencias –valor subjetivo-)</a:t>
            </a:r>
          </a:p>
          <a:p>
            <a:pPr>
              <a:buNone/>
            </a:pPr>
            <a:r>
              <a:rPr lang="es-AR" sz="1800" b="1" dirty="0">
                <a:latin typeface="Apple Braille" pitchFamily="2" charset="0"/>
                <a:cs typeface="AL BAYAN PLAIN" pitchFamily="2" charset="-78"/>
              </a:rPr>
              <a:t>	- escasos, comparables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EE91E4-9D3D-3AE6-FB03-500ED82FC464}"/>
              </a:ext>
            </a:extLst>
          </p:cNvPr>
          <p:cNvSpPr txBox="1"/>
          <p:nvPr/>
        </p:nvSpPr>
        <p:spPr>
          <a:xfrm>
            <a:off x="1194396" y="7640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solidFill>
                  <a:schemeClr val="accent3"/>
                </a:solidFill>
                <a:latin typeface="Apple Braille" pitchFamily="2" charset="0"/>
                <a:cs typeface="AL BAYAN PLAIN" pitchFamily="2" charset="-78"/>
              </a:rPr>
              <a:t>Atributos:</a:t>
            </a:r>
            <a:endParaRPr lang="es-AR" sz="1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758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3D1958E8-2B6B-B92C-D1C5-D9FF3714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B4424A25-2443-55F3-29D1-C013062C97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-48039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FD84FBFB-F3B2-10C2-C045-D99FE4BF6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38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BCBDD7-AC59-3335-6977-98F36867C70E}"/>
              </a:ext>
            </a:extLst>
          </p:cNvPr>
          <p:cNvSpPr txBox="1"/>
          <p:nvPr/>
        </p:nvSpPr>
        <p:spPr>
          <a:xfrm>
            <a:off x="1279121" y="1133427"/>
            <a:ext cx="658575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b="1" dirty="0"/>
              <a:t>Mercado</a:t>
            </a:r>
            <a:endParaRPr lang="es-AR" sz="1050" dirty="0"/>
          </a:p>
          <a:p>
            <a:pPr lvl="3"/>
            <a:r>
              <a:rPr lang="es-AR" sz="1050" b="1" dirty="0"/>
              <a:t>   Depende de:</a:t>
            </a:r>
            <a:r>
              <a:rPr lang="es-AR" sz="1050" dirty="0"/>
              <a:t> la existencia de agentes y bienes para coordinar.</a:t>
            </a:r>
          </a:p>
          <a:p>
            <a:pPr lvl="3"/>
            <a:r>
              <a:rPr lang="es-AR" sz="1050" b="1" dirty="0"/>
              <a:t>   Condición:</a:t>
            </a:r>
            <a:r>
              <a:rPr lang="es-AR" sz="1050" dirty="0"/>
              <a:t> solo tiene sentido si hay precios que igualan oferta y demanda.</a:t>
            </a:r>
          </a:p>
          <a:p>
            <a:pPr lvl="3"/>
            <a:r>
              <a:rPr lang="es-AR" sz="1050" b="1" dirty="0"/>
              <a:t>   Efecto:</a:t>
            </a:r>
            <a:r>
              <a:rPr lang="es-AR" sz="1050" dirty="0"/>
              <a:t> define el orden general del sistema; sin equilibrio, no hay economía.</a:t>
            </a:r>
          </a:p>
          <a:p>
            <a:endParaRPr lang="es-AR" sz="1050" dirty="0"/>
          </a:p>
          <a:p>
            <a:endParaRPr lang="es-AR" sz="1050" dirty="0"/>
          </a:p>
          <a:p>
            <a:r>
              <a:rPr lang="es-AR" sz="1050" b="1" dirty="0"/>
              <a:t>Agentes</a:t>
            </a:r>
            <a:endParaRPr lang="es-AR" sz="1050" dirty="0"/>
          </a:p>
          <a:p>
            <a:r>
              <a:rPr lang="es-AR" sz="1050" b="1" dirty="0"/>
              <a:t>   Dependen de:</a:t>
            </a:r>
            <a:r>
              <a:rPr lang="es-AR" sz="1050" dirty="0"/>
              <a:t> el mercado para que sus elecciones tengan sentido (precios, intercambio).</a:t>
            </a:r>
          </a:p>
          <a:p>
            <a:r>
              <a:rPr lang="es-AR" sz="1050" b="1" dirty="0"/>
              <a:t>   Condición:</a:t>
            </a:r>
            <a:r>
              <a:rPr lang="es-AR" sz="1050" dirty="0"/>
              <a:t> deben poseer dotaciones y preferencias coherentes.</a:t>
            </a:r>
          </a:p>
          <a:p>
            <a:r>
              <a:rPr lang="es-AR" sz="1050" b="1" dirty="0"/>
              <a:t>   Efecto:</a:t>
            </a:r>
            <a:r>
              <a:rPr lang="es-AR" sz="1050" dirty="0"/>
              <a:t> activan el sistema mediante la maximización y el intercambio.</a:t>
            </a:r>
          </a:p>
          <a:p>
            <a:endParaRPr lang="es-AR" sz="1050" dirty="0"/>
          </a:p>
          <a:p>
            <a:r>
              <a:rPr lang="es-AR" sz="1050" b="1" dirty="0"/>
              <a:t>Bienes</a:t>
            </a:r>
            <a:endParaRPr lang="es-AR" sz="1050" dirty="0"/>
          </a:p>
          <a:p>
            <a:r>
              <a:rPr lang="es-AR" sz="1050" b="1" dirty="0"/>
              <a:t>   Dependen de:</a:t>
            </a:r>
            <a:r>
              <a:rPr lang="es-AR" sz="1050" dirty="0"/>
              <a:t> la escasez (Naturaleza) y de la propiedad (Estado).</a:t>
            </a:r>
          </a:p>
          <a:p>
            <a:r>
              <a:rPr lang="es-AR" sz="1050" b="1" dirty="0"/>
              <a:t>   Condición:</a:t>
            </a:r>
            <a:r>
              <a:rPr lang="es-AR" sz="1050" dirty="0"/>
              <a:t> deben ser transferibles y tener precio.</a:t>
            </a:r>
          </a:p>
          <a:p>
            <a:r>
              <a:rPr lang="es-AR" sz="1050" b="1" dirty="0"/>
              <a:t>   Efecto:</a:t>
            </a:r>
            <a:r>
              <a:rPr lang="es-AR" sz="1050" dirty="0"/>
              <a:t> sostienen la conmensurabilidad del sistema; son el soporte del valor.</a:t>
            </a:r>
          </a:p>
          <a:p>
            <a:endParaRPr lang="es-AR" sz="1050" dirty="0"/>
          </a:p>
          <a:p>
            <a:r>
              <a:rPr lang="es-AR" sz="1050" b="1" dirty="0"/>
              <a:t>Elementos exógenos</a:t>
            </a:r>
            <a:endParaRPr lang="es-AR" sz="1050" dirty="0"/>
          </a:p>
          <a:p>
            <a:r>
              <a:rPr lang="es-AR" sz="1050" b="1" dirty="0"/>
              <a:t>   Estado:</a:t>
            </a:r>
            <a:r>
              <a:rPr lang="es-AR" sz="1050" dirty="0"/>
              <a:t> posibilita la existencia de agentes (derechos) y bienes (propiedad).</a:t>
            </a:r>
          </a:p>
          <a:p>
            <a:r>
              <a:rPr lang="es-AR" sz="1050" b="1" dirty="0"/>
              <a:t>   Naturaleza:</a:t>
            </a:r>
            <a:r>
              <a:rPr lang="es-AR" sz="1050" dirty="0"/>
              <a:t> hace posible la escasez y, por tanto, el intercambio.</a:t>
            </a:r>
          </a:p>
          <a:p>
            <a:r>
              <a:rPr lang="es-AR" sz="1050" b="1" dirty="0"/>
              <a:t>   Efecto:</a:t>
            </a:r>
            <a:r>
              <a:rPr lang="es-AR" sz="1050" dirty="0"/>
              <a:t> condiciones de facticidad, no de operación; el sistema no los representa.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7E8C6B-F11D-ECF7-30D0-E25130B10DC7}"/>
              </a:ext>
            </a:extLst>
          </p:cNvPr>
          <p:cNvSpPr txBox="1"/>
          <p:nvPr/>
        </p:nvSpPr>
        <p:spPr>
          <a:xfrm>
            <a:off x="1215996" y="6545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chemeClr val="accent3"/>
                </a:solidFill>
              </a:rPr>
              <a:t>Relaciones elementales:</a:t>
            </a:r>
          </a:p>
        </p:txBody>
      </p:sp>
    </p:spTree>
    <p:extLst>
      <p:ext uri="{BB962C8B-B14F-4D97-AF65-F5344CB8AC3E}">
        <p14:creationId xmlns:p14="http://schemas.microsoft.com/office/powerpoint/2010/main" val="32878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74DDEAE5-0FDF-9D1A-6EF0-F27056F7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>
            <a:extLst>
              <a:ext uri="{FF2B5EF4-FFF2-40B4-BE49-F238E27FC236}">
                <a16:creationId xmlns:a16="http://schemas.microsoft.com/office/drawing/2014/main" id="{681B1AAD-DF14-1043-9811-017F926D5F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-48039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El problema neoclásico</a:t>
            </a:r>
            <a:endParaRPr b="1" dirty="0"/>
          </a:p>
        </p:txBody>
      </p:sp>
      <p:sp>
        <p:nvSpPr>
          <p:cNvPr id="234" name="Google Shape;234;p32">
            <a:extLst>
              <a:ext uri="{FF2B5EF4-FFF2-40B4-BE49-F238E27FC236}">
                <a16:creationId xmlns:a16="http://schemas.microsoft.com/office/drawing/2014/main" id="{39A64D96-9E5C-371F-B19F-87DB0431FE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39</a:t>
            </a:fld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74FD29-3B60-ACCF-C865-AD8A45D1F0BD}"/>
              </a:ext>
            </a:extLst>
          </p:cNvPr>
          <p:cNvSpPr txBox="1"/>
          <p:nvPr/>
        </p:nvSpPr>
        <p:spPr>
          <a:xfrm>
            <a:off x="1279121" y="1097427"/>
            <a:ext cx="658575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/>
              <a:t>Esa escasez tiene una </a:t>
            </a:r>
            <a:r>
              <a:rPr lang="es-AR" sz="1000" b="1" dirty="0"/>
              <a:t>base ontológica material</a:t>
            </a:r>
            <a:r>
              <a:rPr lang="es-AR" sz="1000" dirty="0"/>
              <a:t>:</a:t>
            </a:r>
          </a:p>
          <a:p>
            <a:r>
              <a:rPr lang="es-AR" sz="1000" dirty="0"/>
              <a:t>Es reconocido que ningún recurso es infinito, y por lo tanto los factores naturales (tierra, energía, materias primas) son finitos.</a:t>
            </a:r>
          </a:p>
          <a:p>
            <a:endParaRPr lang="es-AR" sz="1000" dirty="0"/>
          </a:p>
          <a:p>
            <a:r>
              <a:rPr lang="es-AR" sz="1000" dirty="0"/>
              <a:t>Robbins (1932) –definición canónica neoclásica, inspira libros de texto actuales-:</a:t>
            </a:r>
          </a:p>
          <a:p>
            <a:r>
              <a:rPr lang="es-AR" sz="1000" dirty="0"/>
              <a:t>“La economía es la ciencia que estudia la conducta humana como relación entre fines y medios escasos susceptibles de usos alternativos.”</a:t>
            </a:r>
          </a:p>
          <a:p>
            <a:endParaRPr lang="es-AR" sz="1000" dirty="0"/>
          </a:p>
          <a:p>
            <a:r>
              <a:rPr lang="es-AR" sz="1000" dirty="0"/>
              <a:t>La Naturaleza en el pensamiento neoclásico es una </a:t>
            </a:r>
            <a:r>
              <a:rPr lang="es-AR" sz="1000" b="1" dirty="0"/>
              <a:t>condición ontológica de escasez y finitud</a:t>
            </a:r>
            <a:r>
              <a:rPr lang="es-AR" sz="1000" dirty="0"/>
              <a:t>, pero no una </a:t>
            </a:r>
            <a:r>
              <a:rPr lang="es-AR" sz="1000" b="1" dirty="0"/>
              <a:t>variable económica activa</a:t>
            </a:r>
            <a:r>
              <a:rPr lang="es-AR" sz="1000" dirty="0"/>
              <a:t>.</a:t>
            </a:r>
          </a:p>
          <a:p>
            <a:endParaRPr lang="es-AR" sz="1000" dirty="0"/>
          </a:p>
          <a:p>
            <a:r>
              <a:rPr lang="es-AR" sz="1000" dirty="0"/>
              <a:t>Cada “bien” x</a:t>
            </a:r>
            <a:r>
              <a:rPr lang="es-AR" sz="1000" baseline="-25000" dirty="0"/>
              <a:t>i</a:t>
            </a:r>
            <a:r>
              <a:rPr lang="es-AR" sz="1000" dirty="0"/>
              <a:t> es simplemente una </a:t>
            </a:r>
            <a:r>
              <a:rPr lang="es-AR" sz="1000" b="1" dirty="0"/>
              <a:t>cantidad disponible de algo deseable o útil</a:t>
            </a:r>
            <a:r>
              <a:rPr lang="es-AR" sz="1000" dirty="0"/>
              <a:t>. No hay referencia a su composición física ni a su origen natural. Por tanto, el bien </a:t>
            </a:r>
            <a:r>
              <a:rPr lang="es-AR" sz="1000" b="1" dirty="0"/>
              <a:t>no es “materia”, sino índice</a:t>
            </a:r>
            <a:r>
              <a:rPr lang="es-AR" sz="1000" dirty="0"/>
              <a:t>.</a:t>
            </a:r>
          </a:p>
          <a:p>
            <a:br>
              <a:rPr lang="es-AR" sz="1000" dirty="0"/>
            </a:br>
            <a:r>
              <a:rPr lang="es-AR" sz="1000" dirty="0"/>
              <a:t>una firma produce un vector de bienes y a partir de insumos x:</a:t>
            </a:r>
          </a:p>
          <a:p>
            <a:endParaRPr lang="es-AR" sz="1000" dirty="0"/>
          </a:p>
          <a:p>
            <a:r>
              <a:rPr lang="es-AR" sz="1000" dirty="0"/>
              <a:t>Desaparece el </a:t>
            </a:r>
            <a:r>
              <a:rPr lang="es-AR" sz="1000" b="1" dirty="0"/>
              <a:t>insumo natural explícito</a:t>
            </a:r>
            <a:r>
              <a:rPr lang="es-AR" sz="1000" dirty="0"/>
              <a:t>. La Naturaleza está “escondida” dentro de K, o asumida como </a:t>
            </a:r>
            <a:r>
              <a:rPr lang="es-AR" sz="1000" b="1" dirty="0"/>
              <a:t>parámetro constante</a:t>
            </a:r>
            <a:r>
              <a:rPr lang="es-AR" sz="1000" dirty="0"/>
              <a:t> de la tecnología        .</a:t>
            </a:r>
          </a:p>
          <a:p>
            <a:endParaRPr lang="es-AR" sz="1000" dirty="0"/>
          </a:p>
          <a:p>
            <a:r>
              <a:rPr lang="es-AR" sz="1000" dirty="0"/>
              <a:t>El modelo neoclásico </a:t>
            </a:r>
            <a:r>
              <a:rPr lang="es-AR" sz="1000" b="1" dirty="0"/>
              <a:t>asume reversibilidad y conservación</a:t>
            </a:r>
            <a:r>
              <a:rPr lang="es-AR" sz="1000" dirty="0"/>
              <a:t>: no hay tiempo histórico, no hay degradación ni irreversibilidad (ergódico), la producción transforma insumos en productos sin pérdida neta del sistema.</a:t>
            </a:r>
          </a:p>
          <a:p>
            <a:endParaRPr lang="es-AR" sz="1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22BDF4-893D-1179-FCC2-53BA8E1C87C3}"/>
              </a:ext>
            </a:extLst>
          </p:cNvPr>
          <p:cNvSpPr txBox="1"/>
          <p:nvPr/>
        </p:nvSpPr>
        <p:spPr>
          <a:xfrm>
            <a:off x="1215996" y="6545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chemeClr val="accent3"/>
                </a:solidFill>
              </a:rPr>
              <a:t>Nota sobre naturaleza y escasez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E2F0E9-74E5-937C-2267-B8A8C941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797" y="3725346"/>
            <a:ext cx="811799" cy="2415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FEC28B-9B29-2035-91B3-5D7A3F219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000" y="4218059"/>
            <a:ext cx="275600" cy="2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934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8997CB8C-B753-4677-B7CA-4CF80CA1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>
            <a:extLst>
              <a:ext uri="{FF2B5EF4-FFF2-40B4-BE49-F238E27FC236}">
                <a16:creationId xmlns:a16="http://schemas.microsoft.com/office/drawing/2014/main" id="{43B24F4B-267C-9D34-9A4D-5B072D92377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40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EF1738-69B9-C81C-6E6D-E6A122F4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7712"/>
            <a:ext cx="7772400" cy="40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79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185E6322-130B-980F-2FDD-3C430454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>
            <a:extLst>
              <a:ext uri="{FF2B5EF4-FFF2-40B4-BE49-F238E27FC236}">
                <a16:creationId xmlns:a16="http://schemas.microsoft.com/office/drawing/2014/main" id="{B79CFEDE-1306-28D6-F164-851C7B3C7C8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41</a:t>
            </a:fld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290586-6CAA-EB50-D2E0-1DF40F6F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3222"/>
            <a:ext cx="7772400" cy="387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628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D213DBFB-C638-3588-DAF0-1029B214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>
            <a:extLst>
              <a:ext uri="{FF2B5EF4-FFF2-40B4-BE49-F238E27FC236}">
                <a16:creationId xmlns:a16="http://schemas.microsoft.com/office/drawing/2014/main" id="{C56C4B1A-0285-EF39-7B5C-3E16C5F3455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42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92A0217-9BB5-E9AC-848B-7DC22DE52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7155"/>
            <a:ext cx="7772400" cy="438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38CE5279-6F8F-DE37-BFC7-87E4871B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>
            <a:extLst>
              <a:ext uri="{FF2B5EF4-FFF2-40B4-BE49-F238E27FC236}">
                <a16:creationId xmlns:a16="http://schemas.microsoft.com/office/drawing/2014/main" id="{E470F3A4-B98E-6F53-E8DD-79000BCE3F1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43</a:t>
            </a:fld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7C5421-BB36-0D70-060B-9107E74E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2911"/>
            <a:ext cx="7772400" cy="419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99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>
            <a:spLocks noGrp="1"/>
          </p:cNvSpPr>
          <p:nvPr>
            <p:ph type="ctrTitle"/>
          </p:nvPr>
        </p:nvSpPr>
        <p:spPr>
          <a:xfrm>
            <a:off x="978650" y="1123950"/>
            <a:ext cx="7498800" cy="27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s-419" sz="3900"/>
              <a:t>Eso es todo por hoy 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rdelia template">
  <a:themeElements>
    <a:clrScheme name="Personalizados 1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82E4B"/>
      </a:accent1>
      <a:accent2>
        <a:srgbClr val="2D83E2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501E96-10B2-A84F-9FEF-5DEDA8C6A6E1}">
  <we:reference id="wa104380121" version="2.0.0.0" store="es-HN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4475</Words>
  <Application>Microsoft Macintosh PowerPoint</Application>
  <PresentationFormat>Presentación en pantalla (16:9)</PresentationFormat>
  <Paragraphs>627</Paragraphs>
  <Slides>44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44</vt:i4>
      </vt:variant>
    </vt:vector>
  </HeadingPairs>
  <TitlesOfParts>
    <vt:vector size="56" baseType="lpstr">
      <vt:lpstr>Source Sans Pro</vt:lpstr>
      <vt:lpstr>.AppleSystemUIFont</vt:lpstr>
      <vt:lpstr>Apple Braille</vt:lpstr>
      <vt:lpstr>Arial</vt:lpstr>
      <vt:lpstr>-webkit-standard</vt:lpstr>
      <vt:lpstr>Roboto Slab</vt:lpstr>
      <vt:lpstr>Helvetica Neue</vt:lpstr>
      <vt:lpstr>Roboto Slab Light</vt:lpstr>
      <vt:lpstr>Montserrat</vt:lpstr>
      <vt:lpstr>Calibri</vt:lpstr>
      <vt:lpstr>Simple Light</vt:lpstr>
      <vt:lpstr>Cordelia template</vt:lpstr>
      <vt:lpstr>Microecomía Heterodoxa</vt:lpstr>
      <vt:lpstr>Historicidad del pensamiento</vt:lpstr>
      <vt:lpstr>Hitos estructurantes del pensamiento</vt:lpstr>
      <vt:lpstr>Hitos estructurantes del pensamiento</vt:lpstr>
      <vt:lpstr>La economía clásica</vt:lpstr>
      <vt:lpstr>La economía clásica</vt:lpstr>
      <vt:lpstr>El mundo clásico</vt:lpstr>
      <vt:lpstr>El mundo clásico</vt:lpstr>
      <vt:lpstr>El problema neoclásico</vt:lpstr>
      <vt:lpstr>El problema neoclásico</vt:lpstr>
      <vt:lpstr>El problema neoclásico</vt:lpstr>
      <vt:lpstr>La economía neoclásica</vt:lpstr>
      <vt:lpstr>La economía neoclásica</vt:lpstr>
      <vt:lpstr>Enfoques holísticos y enfoques de transición</vt:lpstr>
      <vt:lpstr>El mundo neoclásico y el nacimiento del mainstream</vt:lpstr>
      <vt:lpstr>Máximas en la Construcción del conocimiento ortodoxo </vt:lpstr>
      <vt:lpstr>Heterodoxias</vt:lpstr>
      <vt:lpstr>Clásicos </vt:lpstr>
      <vt:lpstr>Presentación de PowerPoint</vt:lpstr>
      <vt:lpstr>Presentación de PowerPoint</vt:lpstr>
      <vt:lpstr>Presentación de PowerPoint</vt:lpstr>
      <vt:lpstr>Paradigma </vt:lpstr>
      <vt:lpstr>Presentación de PowerPoint</vt:lpstr>
      <vt:lpstr>Presentación de PowerPoint</vt:lpstr>
      <vt:lpstr>¿Cuál es el núcleo ontológico de la teoría neoclásica?</vt:lpstr>
      <vt:lpstr>El problema neoclásico</vt:lpstr>
      <vt:lpstr>El problema neoclásico</vt:lpstr>
      <vt:lpstr>El problema neoclásico</vt:lpstr>
      <vt:lpstr>El problema neoclásico</vt:lpstr>
      <vt:lpstr>El problema neoclásico</vt:lpstr>
      <vt:lpstr>El problema neoclásico</vt:lpstr>
      <vt:lpstr>El problema neoclásico</vt:lpstr>
      <vt:lpstr>El problema neoclásico</vt:lpstr>
      <vt:lpstr>El problema neoclásico</vt:lpstr>
      <vt:lpstr>El problema neoclásico</vt:lpstr>
      <vt:lpstr>Presentación de PowerPoint</vt:lpstr>
      <vt:lpstr>El problema neoclásico</vt:lpstr>
      <vt:lpstr>El problema neoclásico</vt:lpstr>
      <vt:lpstr>El problema neoclásico</vt:lpstr>
      <vt:lpstr>Presentación de PowerPoint</vt:lpstr>
      <vt:lpstr>Presentación de PowerPoint</vt:lpstr>
      <vt:lpstr>Presentación de PowerPoint</vt:lpstr>
      <vt:lpstr>Presentación de PowerPoint</vt:lpstr>
      <vt:lpstr>Eso es todo por hoy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Rodrigo Kataishi</cp:lastModifiedBy>
  <cp:revision>4</cp:revision>
  <dcterms:modified xsi:type="dcterms:W3CDTF">2025-10-14T18:40:25Z</dcterms:modified>
</cp:coreProperties>
</file>